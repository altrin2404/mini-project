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75" r:id="rId3"/>
    <p:sldId id="286" r:id="rId24"/>
    <p:sldId id="276" r:id="rId4"/>
    <p:sldId id="277" r:id="rId5"/>
    <p:sldId id="278" r:id="rId6"/>
    <p:sldId id="279" r:id="rId7"/>
    <p:sldId id="280" r:id="rId8"/>
    <p:sldId id="285" r:id="rId23"/>
    <p:sldId id="284" r:id="rId22"/>
    <p:sldId id="283" r:id="rId9"/>
    <p:sldId id="281" r:id="rId10"/>
    <p:sldId id="282" r:id="rId11"/>
  </p:sldIdLst>
  <p:sldSz cx="18288000" cy="10287000"/>
  <p:notesSz cx="6858000" cy="9144000"/>
  <p:embeddedFontLst>
    <p:embeddedFont>
      <p:font typeface="Consolas" panose="020B0609020204030204" pitchFamily="49" charset="0"/>
      <p:regular r:id="rId13"/>
      <p:bold r:id="rId14"/>
      <p:italic r:id="rId15"/>
      <p:boldItalic r:id="rId16"/>
    </p:embeddedFont>
    <p:embeddedFont>
      <p:font typeface="Corben"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  <Relationship Id="rId22" Type="http://schemas.openxmlformats.org/officeDocument/2006/relationships/slide" Target="slides/slide11.xml"/>
  <Relationship Id="rId23" Type="http://schemas.openxmlformats.org/officeDocument/2006/relationships/slide" Target="slides/slide12.xml"/>
  <Relationship Id="rId2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Good morning respected members of the evaluation committee and our guide, Er. Agnes Alex Rathy ma'am. We are presenting the 3rd Review of our mini-project: AI-Driven Academic Risk &amp; Dropout Early-Warning System Using Digital Twin. In Review 1 we outlined the concept and architecture, in Review 2 we showed the preliminary prototype. Today we present the complete, verified, end-to-end implementation: real-time event pipeline, hysteresis digital twin state transitions, explainable factor attribution, multi-stakeholder dashboards, in-memory What-If simulation and empirical performance benchmarks.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The abstract in short: autonomous colleges require 75 percent attendance and CIA cut-offs, but early warning signals such as absenteeism, quiz drops and missed labs sit in separate registers, so students are caught only at term-end reviews. Our Digital Class Twin creates a living twin of every student from real-time events, with rolling 30-day features, an explainable 0 to 100 health score, a hysteresis state machine and an in-memory What-If simulator, delivered through desktop and mobile portals. Verified results: 26.12 ms ingestion, 38.30 events per second, 2.24 ms twin query and 0.48 ms What-If projection. The next slide covers the problem statement and the five objectives.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We compared five key works. Alalawi et al. use batch processing with no live feedback; Katsuragi and Tanaka give an offline interpretable model without an intervention sandbox; Tiukhova et al. focus on explainable AI stability only; Grieves and Vickers define digital twins for industrial systems; Plak et al. rely on periodic surveys. This leaves three gaps: no continuous synchronization, no explainable factor attribution for advisors, and no in-memory what-if prognosis. Digital Class Twin fills all three.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Classroom events such as attendance, marks and conduct flags enter through the FastAPI REST ingestion endpoint. They are validated, converted into 30-day rolling features, scored by the linear risk engine and passed to the hysteresis state machine. State changes create audit snapshots and mentor alerts, stored via SQLAlchemy and shown on React portals for students, faculty and parents, plus the What-If workspace. The health score is 0.5 Academic + 0.3 Attendance + 0.2 Conduct. Stable is 75 or above, Warning 50 to 75, Critical below 50, with a plus-minus 2 hysteresis band.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All eight subsystems are complete. The backend core has the event ingestion, feature extraction, risk scoring, twin engine and alert engine; the What-If sandbox lives in the twins router. On the client side we built the React 18 desktop dashboards and a mobile client with attendance streaks and LLM-generated plain-language insights. Stack: Python 3.13, FastAPI, SQLAlchemy 2.0 with SQLite or PostgreSQL, React 18 with Vite, and pytest with a perf_counter benchmark harness.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Walk through S002: faculty logs a first-hour absence, attendance drops from 60 to 58 percent, health score becomes 44.8 and risk 55.2, so the twin moves from Warning to Critical, a TwinSnapshot is stored and the mentor is alerted. In the What-If simulator, adding 15 percent attendance and 10 CIA-2 marks projects a health score of 54.6 and returns the twin to Warning. Benchmarks over 100 sequential cycles: ingestion 26.12 ms against a 50 ms target, twin query 2.24 ms, 38.30 events per second, zero redundant snapshot writes and a 0.48 ms What-If projection.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screenshots from the running system: the student dashboard, the digital twin semester progress page, badges and progress, alerts, the submit event form and the profile page. Replace with the latest Review 3 screenshots (What-If workspace, faculty risk hub, parent portal) if available.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To conclude, we successfully developed, integrated and verified the Digital Class Twin platform. It converts retrospective condonation reviews into proactive real-time guidance, with verified sub-30 ms ingestion, a robust anti-flicker state machine and an interactive What-If tool, delivered across desktop and mobile. Future work: PostgreSQL with Redis and Celery, LSTM or XGBoost models on multi-year cohorts, and ERP integration with biometric turnstiles and SMS/WhatsApp notifications. Thank you.</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We have not yet done a symposium paper presentation. Instead, we are going for an international conference, ICAESEM 2026, on 30-31 October 2026 in online mode, and the International Hackathon 5.0 organised by Kalaignar Karunanidhi Institute of Technology with ECLearnix. Our plan is to finalise the paper with Review 3 results and present at ICAESEM 2026, register for the hackathon and submit the PPT by 12 November, and present in Round 1 on 14 November 2026.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6.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4E9FE"/>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E7">
                <a:alpha val="90196"/>
              </a:srgbClr>
            </a:solidFill>
          </p:spPr>
        </p:sp>
      </p:grpSp>
      <p:grpSp>
        <p:nvGrpSpPr>
          <p:cNvPr id="6" name="Group 6"/>
          <p:cNvGrpSpPr/>
          <p:nvPr/>
        </p:nvGrpSpPr>
        <p:grpSpPr>
          <a:xfrm>
            <a:off x="284581" y="-238382"/>
            <a:ext cx="18288000" cy="10287000"/>
            <a:chOff x="0" y="0"/>
            <a:chExt cx="24384000" cy="13716000"/>
          </a:xfrm>
        </p:grpSpPr>
        <p:sp>
          <p:nvSpPr>
            <p:cNvPr id="7" name="Freeform 7"/>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8E7"/>
            </a:solidFill>
          </p:spPr>
        </p:sp>
      </p:grpSp>
      <p:sp>
        <p:nvSpPr>
          <p:cNvPr id="8" name="TextBox 7"/>
          <p:cNvSpPr txBox="1"/>
          <p:nvPr/>
        </p:nvSpPr>
        <p:spPr>
          <a:xfrm>
            <a:off x="914400" y="685800"/>
            <a:ext cx="16459200" cy="2651760"/>
          </a:xfrm>
          <a:prstGeom prst="rect">
            <a:avLst/>
          </a:prstGeom>
          <a:noFill/>
        </p:spPr>
        <p:txBody>
          <a:bodyPr wrap="square" lIns="0" tIns="0" rIns="0" bIns="0" anchor="ctr">
            <a:spAutoFit/>
          </a:bodyPr>
          <a:lstStyle/>
          <a:p>
            <a:pPr algn="ctr">
              <a:spcAft>
                <a:spcPts val="600"/>
              </a:spcAft>
            </a:pPr>
            <a:r>
              <a:rPr sz="5400" b="0" i="0" u="sng">
                <a:solidFill>
                  <a:srgbClr val="0025CC"/>
                </a:solidFill>
                <a:latin typeface="Corben"/>
                <a:ea typeface="Corben"/>
                <a:cs typeface="Corben"/>
              </a:rPr>
              <a:t>AI-Driven Academic Risk &amp; Dropout Early-Warning System Using Digital Twin</a:t>
            </a:r>
          </a:p>
        </p:txBody>
      </p:sp>
      <p:sp>
        <p:nvSpPr>
          <p:cNvPr id="9" name="TextBox 8"/>
          <p:cNvSpPr txBox="1"/>
          <p:nvPr/>
        </p:nvSpPr>
        <p:spPr>
          <a:xfrm>
            <a:off x="914400" y="3520440"/>
            <a:ext cx="16459200" cy="731520"/>
          </a:xfrm>
          <a:prstGeom prst="rect">
            <a:avLst/>
          </a:prstGeom>
          <a:noFill/>
        </p:spPr>
        <p:txBody>
          <a:bodyPr wrap="square" lIns="0" tIns="0" rIns="0" bIns="0" anchor="t">
            <a:spAutoFit/>
          </a:bodyPr>
          <a:lstStyle/>
          <a:p>
            <a:pPr algn="ctr">
              <a:spcAft>
                <a:spcPts val="600"/>
              </a:spcAft>
            </a:pPr>
            <a:r>
              <a:rPr sz="3600" b="1" i="0">
                <a:solidFill>
                  <a:srgbClr val="FF6D4D"/>
                </a:solidFill>
                <a:latin typeface="Corben"/>
                <a:ea typeface="Corben"/>
                <a:cs typeface="Corben"/>
              </a:rPr>
              <a:t>Digital Class Twin  |  Mini Project – Review 3</a:t>
            </a:r>
          </a:p>
        </p:txBody>
      </p:sp>
      <p:sp>
        <p:nvSpPr>
          <p:cNvPr id="11" name="TextBox 10"/>
          <p:cNvSpPr txBox="1"/>
          <p:nvPr/>
        </p:nvSpPr>
        <p:spPr>
          <a:xfrm>
            <a:off x="1097280" y="5074920"/>
            <a:ext cx="73152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Team Members</a:t>
            </a:r>
          </a:p>
        </p:txBody>
      </p:sp>
      <p:sp>
        <p:nvSpPr>
          <p:cNvPr id="12" name="Rounded Rectangle 11"/>
          <p:cNvSpPr/>
          <p:nvPr/>
        </p:nvSpPr>
        <p:spPr>
          <a:xfrm>
            <a:off x="1097280" y="5715000"/>
            <a:ext cx="4480560" cy="10515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spcAft>
                <a:spcPts val="200"/>
              </a:spcAft>
            </a:pPr>
            <a:r>
              <a:rPr sz="2000" b="1" i="0">
                <a:solidFill>
                  <a:srgbClr val="1B2B3A"/>
                </a:solidFill>
                <a:latin typeface="Corben"/>
                <a:ea typeface="Corben"/>
                <a:cs typeface="Corben"/>
              </a:rPr>
              <a:t>Altrin Benser A</a:t>
            </a:r>
          </a:p>
          <a:p>
            <a:pPr algn="l">
              <a:spcAft>
                <a:spcPts val="0"/>
              </a:spcAft>
            </a:pPr>
            <a:r>
              <a:rPr sz="1800" b="0" i="0">
                <a:solidFill>
                  <a:srgbClr val="404155"/>
                </a:solidFill>
                <a:latin typeface="Corben"/>
                <a:ea typeface="Corben"/>
                <a:cs typeface="Corben"/>
              </a:rPr>
              <a:t>962223205010</a:t>
            </a:r>
          </a:p>
        </p:txBody>
      </p:sp>
      <p:sp>
        <p:nvSpPr>
          <p:cNvPr id="13" name="Rounded Rectangle 12"/>
          <p:cNvSpPr/>
          <p:nvPr/>
        </p:nvSpPr>
        <p:spPr>
          <a:xfrm>
            <a:off x="5760720" y="5715000"/>
            <a:ext cx="4480560" cy="10515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spcAft>
                <a:spcPts val="200"/>
              </a:spcAft>
            </a:pPr>
            <a:r>
              <a:rPr sz="2000" b="1" i="0">
                <a:solidFill>
                  <a:srgbClr val="1B2B3A"/>
                </a:solidFill>
                <a:latin typeface="Corben"/>
                <a:ea typeface="Corben"/>
                <a:cs typeface="Corben"/>
              </a:rPr>
              <a:t>Jerish Rethna J</a:t>
            </a:r>
          </a:p>
          <a:p>
            <a:pPr algn="l">
              <a:spcAft>
                <a:spcPts val="0"/>
              </a:spcAft>
            </a:pPr>
            <a:r>
              <a:rPr sz="1800" b="0" i="0">
                <a:solidFill>
                  <a:srgbClr val="404155"/>
                </a:solidFill>
                <a:latin typeface="Corben"/>
                <a:ea typeface="Corben"/>
                <a:cs typeface="Corben"/>
              </a:rPr>
              <a:t>962223205029</a:t>
            </a:r>
          </a:p>
        </p:txBody>
      </p:sp>
      <p:sp>
        <p:nvSpPr>
          <p:cNvPr id="14" name="Rounded Rectangle 13"/>
          <p:cNvSpPr/>
          <p:nvPr/>
        </p:nvSpPr>
        <p:spPr>
          <a:xfrm>
            <a:off x="1097280" y="6949440"/>
            <a:ext cx="4480560" cy="10515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spcAft>
                <a:spcPts val="200"/>
              </a:spcAft>
            </a:pPr>
            <a:r>
              <a:rPr sz="2000" b="1" i="0">
                <a:solidFill>
                  <a:srgbClr val="1B2B3A"/>
                </a:solidFill>
                <a:latin typeface="Corben"/>
                <a:ea typeface="Corben"/>
                <a:cs typeface="Corben"/>
              </a:rPr>
              <a:t>John Jins J</a:t>
            </a:r>
          </a:p>
          <a:p>
            <a:pPr algn="l">
              <a:spcAft>
                <a:spcPts val="0"/>
              </a:spcAft>
            </a:pPr>
            <a:r>
              <a:rPr sz="1800" b="0" i="0">
                <a:solidFill>
                  <a:srgbClr val="404155"/>
                </a:solidFill>
                <a:latin typeface="Corben"/>
                <a:ea typeface="Corben"/>
                <a:cs typeface="Corben"/>
              </a:rPr>
              <a:t>962223205032</a:t>
            </a:r>
          </a:p>
        </p:txBody>
      </p:sp>
      <p:sp>
        <p:nvSpPr>
          <p:cNvPr id="15" name="Rounded Rectangle 14"/>
          <p:cNvSpPr/>
          <p:nvPr/>
        </p:nvSpPr>
        <p:spPr>
          <a:xfrm>
            <a:off x="5760720" y="6949440"/>
            <a:ext cx="4480560" cy="10515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spcAft>
                <a:spcPts val="200"/>
              </a:spcAft>
            </a:pPr>
            <a:r>
              <a:rPr sz="2000" b="1" i="0">
                <a:solidFill>
                  <a:srgbClr val="1B2B3A"/>
                </a:solidFill>
                <a:latin typeface="Corben"/>
                <a:ea typeface="Corben"/>
                <a:cs typeface="Corben"/>
              </a:rPr>
              <a:t>Mukhilan M</a:t>
            </a:r>
          </a:p>
          <a:p>
            <a:pPr algn="l">
              <a:spcAft>
                <a:spcPts val="0"/>
              </a:spcAft>
            </a:pPr>
            <a:r>
              <a:rPr sz="1800" b="0" i="0">
                <a:solidFill>
                  <a:srgbClr val="404155"/>
                </a:solidFill>
                <a:latin typeface="Corben"/>
                <a:ea typeface="Corben"/>
                <a:cs typeface="Corben"/>
              </a:rPr>
              <a:t>962223205040</a:t>
            </a:r>
          </a:p>
        </p:txBody>
      </p:sp>
      <p:sp>
        <p:nvSpPr>
          <p:cNvPr id="16" name="TextBox 15"/>
          <p:cNvSpPr txBox="1"/>
          <p:nvPr/>
        </p:nvSpPr>
        <p:spPr>
          <a:xfrm>
            <a:off x="10789920" y="5074920"/>
            <a:ext cx="64008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Guide</a:t>
            </a:r>
          </a:p>
        </p:txBody>
      </p:sp>
      <p:sp>
        <p:nvSpPr>
          <p:cNvPr id="17" name="Rounded Rectangle 16"/>
          <p:cNvSpPr/>
          <p:nvPr/>
        </p:nvSpPr>
        <p:spPr>
          <a:xfrm>
            <a:off x="10789920" y="5715000"/>
            <a:ext cx="6309360" cy="228600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spcAft>
                <a:spcPts val="400"/>
              </a:spcAft>
            </a:pPr>
            <a:r>
              <a:rPr sz="2200" b="1" i="0" dirty="0">
                <a:solidFill>
                  <a:srgbClr val="1B2B3A"/>
                </a:solidFill>
                <a:latin typeface="Corben"/>
                <a:ea typeface="Corben"/>
                <a:cs typeface="Corben"/>
              </a:rPr>
              <a:t>Er. Agnes Alex Rathy P</a:t>
            </a:r>
            <a:r>
              <a:rPr lang="en-US" sz="2200" b="1" i="0" dirty="0">
                <a:solidFill>
                  <a:srgbClr val="1B2B3A"/>
                </a:solidFill>
                <a:latin typeface="Corben"/>
                <a:ea typeface="Corben"/>
                <a:cs typeface="Corben"/>
              </a:rPr>
              <a:t> </a:t>
            </a:r>
            <a:r>
              <a:rPr sz="2200" b="1" i="0" dirty="0">
                <a:solidFill>
                  <a:srgbClr val="1B2B3A"/>
                </a:solidFill>
                <a:latin typeface="Corben"/>
                <a:ea typeface="Corben"/>
                <a:cs typeface="Corben"/>
              </a:rPr>
              <a:t> M.E.</a:t>
            </a:r>
            <a:r>
              <a:rPr lang="en-US" sz="2200" b="1" i="0" dirty="0">
                <a:solidFill>
                  <a:srgbClr val="1B2B3A"/>
                </a:solidFill>
                <a:latin typeface="Corben"/>
                <a:ea typeface="Corben"/>
                <a:cs typeface="Corben"/>
              </a:rPr>
              <a:t>,MBA</a:t>
            </a:r>
            <a:endParaRPr sz="2200" b="1" i="0" dirty="0">
              <a:solidFill>
                <a:srgbClr val="1B2B3A"/>
              </a:solidFill>
              <a:latin typeface="Corben"/>
              <a:ea typeface="Corben"/>
              <a:cs typeface="Corben"/>
            </a:endParaRPr>
          </a:p>
          <a:p>
            <a:pPr algn="l">
              <a:spcAft>
                <a:spcPts val="0"/>
              </a:spcAft>
            </a:pPr>
            <a:r>
              <a:rPr sz="2000" b="0" i="0" dirty="0">
                <a:solidFill>
                  <a:srgbClr val="404155"/>
                </a:solidFill>
                <a:latin typeface="Corben"/>
                <a:ea typeface="Corben"/>
                <a:cs typeface="Corben"/>
              </a:rPr>
              <a:t>Assistant Professor / IT</a:t>
            </a:r>
          </a:p>
        </p:txBody>
      </p:sp>
      <p:sp>
        <p:nvSpPr>
          <p:cNvPr id="18" name="TextBox 17"/>
          <p:cNvSpPr txBox="1"/>
          <p:nvPr/>
        </p:nvSpPr>
        <p:spPr>
          <a:xfrm>
            <a:off x="1097280" y="8503920"/>
            <a:ext cx="16002000" cy="914400"/>
          </a:xfrm>
          <a:prstGeom prst="rect">
            <a:avLst/>
          </a:prstGeom>
          <a:noFill/>
        </p:spPr>
        <p:txBody>
          <a:bodyPr wrap="square" lIns="0" tIns="0" rIns="0" bIns="0" anchor="t">
            <a:spAutoFit/>
          </a:bodyPr>
          <a:lstStyle/>
          <a:p>
            <a:pPr algn="ctr">
              <a:spcAft>
                <a:spcPts val="200"/>
              </a:spcAft>
            </a:pPr>
            <a:r>
              <a:rPr sz="2200" b="1" i="0">
                <a:solidFill>
                  <a:srgbClr val="404155"/>
                </a:solidFill>
                <a:latin typeface="Corben"/>
                <a:ea typeface="Corben"/>
                <a:cs typeface="Corben"/>
              </a:rPr>
              <a:t>Department of Information Technology</a:t>
            </a:r>
          </a:p>
          <a:p>
            <a:pPr algn="ctr">
              <a:spcAft>
                <a:spcPts val="0"/>
              </a:spcAft>
            </a:pPr>
            <a:r>
              <a:rPr sz="2000" b="0" i="0">
                <a:solidFill>
                  <a:srgbClr val="404155"/>
                </a:solidFill>
                <a:latin typeface="Corben"/>
                <a:ea typeface="Corben"/>
                <a:cs typeface="Corben"/>
              </a:rPr>
              <a:t>St. Xavier’s Catholic College of Engineering (Autonomous), Chunkankadai, Nagercoil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Abstract</a:t>
            </a:r>
          </a:p>
        </p:txBody>
      </p:sp>
      <p:sp>
        <p:nvSpPr>
          <p:cNvPr id="3" name="TextBox 2"/>
          <p:cNvSpPr txBox="1"/>
          <p:nvPr/>
        </p:nvSpPr>
        <p:spPr>
          <a:xfrm>
            <a:off x="548640" y="1371600"/>
            <a:ext cx="17190720" cy="5600000"/>
          </a:xfrm>
          <a:prstGeom prst="rect">
            <a:avLst/>
          </a:prstGeom>
          <a:noFill/>
        </p:spPr>
        <p:txBody>
          <a:bodyPr wrap="square" lIns="0" tIns="0" rIns="0" bIns="0" anchor="t">
            <a:spAutoFit/>
          </a:bodyPr>
          <a:lstStyle/>
          <a:p>
            <a:pPr marL="320040" indent="-320040" algn="l">
              <a:spcAft>
                <a:spcPts val="1300"/>
              </a:spcAft>
              <a:buChar char="•"/>
            </a:pPr>
            <a:r>
              <a:rPr lang="en-US" sz="2800" b="1" i="0" dirty="0">
                <a:solidFill>
                  <a:srgbClr val="1B2B3A"/>
                </a:solidFill>
                <a:latin typeface="Corben"/>
                <a:ea typeface="Corben"/>
                <a:cs typeface="Corben"/>
              </a:rPr>
              <a:t>Context: </a:t>
            </a:r>
            <a:r>
              <a:rPr lang="en-US" sz="2800" b="0" i="0" dirty="0">
                <a:solidFill>
                  <a:srgbClr val="1B2B3A"/>
                </a:solidFill>
                <a:latin typeface="Corben"/>
                <a:ea typeface="Corben"/>
                <a:cs typeface="Corben"/>
              </a:rPr>
              <a:t>Autonomous institutions require ≥ 75% attendance and CIA cut-offs, yet early-warning signals (absenteeism, quiz drops, missed labs) stay siloed in faculty registers.</a:t>
            </a:r>
          </a:p>
          <a:p>
            <a:pPr marL="320040" indent="-320040" algn="l">
              <a:spcAft>
                <a:spcPts val="1300"/>
              </a:spcAft>
              <a:buChar char="•"/>
            </a:pPr>
            <a:r>
              <a:rPr lang="en-US" sz="2800" b="1" i="0" dirty="0">
                <a:solidFill>
                  <a:srgbClr val="1B2B3A"/>
                </a:solidFill>
                <a:latin typeface="Corben"/>
                <a:ea typeface="Corben"/>
                <a:cs typeface="Corben"/>
              </a:rPr>
              <a:t>Gap: </a:t>
            </a:r>
            <a:r>
              <a:rPr lang="en-US" sz="2800" b="0" i="0" dirty="0">
                <a:solidFill>
                  <a:srgbClr val="1B2B3A"/>
                </a:solidFill>
                <a:latin typeface="Corben"/>
                <a:ea typeface="Corben"/>
                <a:cs typeface="Corben"/>
              </a:rPr>
              <a:t>Students facing condonation are caught only at term-end reviews, too late to act, and ERPs show raw percentages without explaining why a student is sliding.</a:t>
            </a:r>
          </a:p>
          <a:p>
            <a:pPr marL="320040" indent="-320040" algn="l">
              <a:spcAft>
                <a:spcPts val="1300"/>
              </a:spcAft>
              <a:buChar char="•"/>
            </a:pPr>
            <a:r>
              <a:rPr lang="en-US" sz="2800" b="1" i="0" dirty="0">
                <a:solidFill>
                  <a:srgbClr val="1B2B3A"/>
                </a:solidFill>
                <a:latin typeface="Corben"/>
                <a:ea typeface="Corben"/>
                <a:cs typeface="Corben"/>
              </a:rPr>
              <a:t>Digital Class Twin: </a:t>
            </a:r>
            <a:r>
              <a:rPr lang="en-US" sz="2800" b="0" i="0" dirty="0">
                <a:solidFill>
                  <a:srgbClr val="1B2B3A"/>
                </a:solidFill>
                <a:latin typeface="Corben"/>
                <a:ea typeface="Corben"/>
                <a:cs typeface="Corben"/>
              </a:rPr>
              <a:t>A living virtual twin of every student, updated by real-time REST ingestion of attendance, CIA / quiz marks and conduct flags.</a:t>
            </a:r>
          </a:p>
          <a:p>
            <a:pPr marL="320040" indent="-320040" algn="l">
              <a:spcAft>
                <a:spcPts val="1300"/>
              </a:spcAft>
              <a:buChar char="•"/>
            </a:pPr>
            <a:r>
              <a:rPr lang="en-US" sz="2800" b="1" i="0" dirty="0">
                <a:solidFill>
                  <a:srgbClr val="1B2B3A"/>
                </a:solidFill>
                <a:latin typeface="Corben"/>
                <a:ea typeface="Corben"/>
                <a:cs typeface="Corben"/>
              </a:rPr>
              <a:t>Explainable scoring: </a:t>
            </a:r>
            <a:r>
              <a:rPr lang="en-US" sz="2800" b="0" i="0" dirty="0">
                <a:solidFill>
                  <a:srgbClr val="1B2B3A"/>
                </a:solidFill>
                <a:latin typeface="Corben"/>
                <a:ea typeface="Corben"/>
                <a:cs typeface="Corben"/>
              </a:rPr>
              <a:t>Rolling 30-day features drive a 0–100 Composite Health Score (50% Academic, 30% Attendance, 20% Conduct) with factor attribution.</a:t>
            </a:r>
          </a:p>
          <a:p>
            <a:pPr marL="320040" indent="-320040" algn="l">
              <a:spcAft>
                <a:spcPts val="1300"/>
              </a:spcAft>
              <a:buChar char="•"/>
            </a:pPr>
            <a:r>
              <a:rPr lang="en-US" sz="2800" b="1" i="0" dirty="0">
                <a:solidFill>
                  <a:srgbClr val="1B2B3A"/>
                </a:solidFill>
                <a:latin typeface="Corben"/>
                <a:ea typeface="Corben"/>
                <a:cs typeface="Corben"/>
              </a:rPr>
              <a:t>Anti-flicker state machine: </a:t>
            </a:r>
            <a:r>
              <a:rPr lang="en-US" sz="2800" b="0" i="0" dirty="0">
                <a:solidFill>
                  <a:srgbClr val="1B2B3A"/>
                </a:solidFill>
                <a:latin typeface="Corben"/>
                <a:ea typeface="Corben"/>
                <a:cs typeface="Corben"/>
              </a:rPr>
              <a:t>±2.0-point hysteresis classifies students as Stable, Warning or Critical, saving audit snapshots and alerting mentors.</a:t>
            </a:r>
          </a:p>
          <a:p>
            <a:pPr marL="320040" indent="-320040" algn="l">
              <a:spcAft>
                <a:spcPts val="1300"/>
              </a:spcAft>
              <a:buChar char="•"/>
            </a:pPr>
            <a:r>
              <a:rPr lang="en-US" sz="2800" b="1" i="0" dirty="0">
                <a:solidFill>
                  <a:srgbClr val="1B2B3A"/>
                </a:solidFill>
                <a:latin typeface="Corben"/>
                <a:ea typeface="Corben"/>
                <a:cs typeface="Corben"/>
              </a:rPr>
              <a:t>What-If &amp; portals: </a:t>
            </a:r>
            <a:r>
              <a:rPr lang="en-US" sz="2800" b="0" i="0" dirty="0">
                <a:solidFill>
                  <a:srgbClr val="1B2B3A"/>
                </a:solidFill>
                <a:latin typeface="Corben"/>
                <a:ea typeface="Corben"/>
                <a:cs typeface="Corben"/>
              </a:rPr>
              <a:t>An in-memory simulator tests recovery plans without changing records; desktop and mobile portals serve students, faculty, parents and admins.</a:t>
            </a:r>
          </a:p>
        </p:txBody>
      </p:sp>
      <p:sp>
        <p:nvSpPr>
          <p:cNvPr id="4" name="Stat Card 1"/>
          <p:cNvSpPr/>
          <p:nvPr/>
        </p:nvSpPr>
        <p:spPr>
          <a:xfrm>
            <a:off x="548640" y="8001000"/>
            <a:ext cx="4057650" cy="1554480"/>
          </a:xfrm>
          <a:prstGeom prst="roundRect">
            <a:avLst>
              <a:gd name="adj" fmla="val 8000"/>
            </a:avLst>
          </a:prstGeom>
          <a:solidFill>
            <a:srgbClr val="FFFFFF"/>
          </a:solidFill>
          <a:ln w="31750">
            <a:solidFill>
              <a:srgbClr val="4967E9"/>
            </a:solidFill>
          </a:ln>
        </p:spPr>
        <p:txBody>
          <a:bodyPr wrap="square" lIns="91440" tIns="91440" rIns="91440" bIns="91440" rtlCol="0" anchor="ctr"/>
          <a:lstStyle/>
          <a:p>
            <a:pPr algn="ctr">
              <a:spcAft>
                <a:spcPts val="200"/>
              </a:spcAft>
            </a:pPr>
            <a:r>
              <a:rPr lang="en-US" sz="3600" b="1" i="0" dirty="0">
                <a:solidFill>
                  <a:srgbClr val="FF6D4D"/>
                </a:solidFill>
                <a:latin typeface="Corben"/>
                <a:ea typeface="Corben"/>
                <a:cs typeface="Corben"/>
              </a:rPr>
              <a:t>26.12 ms</a:t>
            </a:r>
          </a:p>
          <a:p>
            <a:pPr algn="ctr">
              <a:spcAft>
                <a:spcPts val="0"/>
              </a:spcAft>
            </a:pPr>
            <a:r>
              <a:rPr lang="en-US" sz="1600" b="0" i="0" dirty="0">
                <a:solidFill>
                  <a:srgbClr val="404155"/>
                </a:solidFill>
                <a:latin typeface="Corben"/>
                <a:ea typeface="Corben"/>
                <a:cs typeface="Corben"/>
              </a:rPr>
              <a:t>avg. ingestion latency</a:t>
            </a:r>
          </a:p>
        </p:txBody>
      </p:sp>
      <p:sp>
        <p:nvSpPr>
          <p:cNvPr id="5" name="Stat Card 2"/>
          <p:cNvSpPr/>
          <p:nvPr/>
        </p:nvSpPr>
        <p:spPr>
          <a:xfrm>
            <a:off x="4926330" y="8001000"/>
            <a:ext cx="4057650" cy="1554480"/>
          </a:xfrm>
          <a:prstGeom prst="roundRect">
            <a:avLst>
              <a:gd name="adj" fmla="val 8000"/>
            </a:avLst>
          </a:prstGeom>
          <a:solidFill>
            <a:srgbClr val="FFFFFF"/>
          </a:solidFill>
          <a:ln w="31750">
            <a:solidFill>
              <a:srgbClr val="4967E9"/>
            </a:solidFill>
          </a:ln>
        </p:spPr>
        <p:txBody>
          <a:bodyPr wrap="square" lIns="91440" tIns="91440" rIns="91440" bIns="91440" rtlCol="0" anchor="ctr"/>
          <a:lstStyle/>
          <a:p>
            <a:pPr algn="ctr">
              <a:spcAft>
                <a:spcPts val="200"/>
              </a:spcAft>
            </a:pPr>
            <a:r>
              <a:rPr lang="en-US" sz="3600" b="1" i="0" dirty="0">
                <a:solidFill>
                  <a:srgbClr val="FF6D4D"/>
                </a:solidFill>
                <a:latin typeface="Corben"/>
                <a:ea typeface="Corben"/>
                <a:cs typeface="Corben"/>
              </a:rPr>
              <a:t>38.30 /s</a:t>
            </a:r>
          </a:p>
          <a:p>
            <a:pPr algn="ctr">
              <a:spcAft>
                <a:spcPts val="0"/>
              </a:spcAft>
            </a:pPr>
            <a:r>
              <a:rPr lang="en-US" sz="1600" b="0" i="0" dirty="0">
                <a:solidFill>
                  <a:srgbClr val="404155"/>
                </a:solidFill>
                <a:latin typeface="Corben"/>
                <a:ea typeface="Corben"/>
                <a:cs typeface="Corben"/>
              </a:rPr>
              <a:t>sequential event throughput</a:t>
            </a:r>
          </a:p>
        </p:txBody>
      </p:sp>
      <p:sp>
        <p:nvSpPr>
          <p:cNvPr id="6" name="Stat Card 3"/>
          <p:cNvSpPr/>
          <p:nvPr/>
        </p:nvSpPr>
        <p:spPr>
          <a:xfrm>
            <a:off x="9304020" y="8001000"/>
            <a:ext cx="4057650" cy="1554480"/>
          </a:xfrm>
          <a:prstGeom prst="roundRect">
            <a:avLst>
              <a:gd name="adj" fmla="val 8000"/>
            </a:avLst>
          </a:prstGeom>
          <a:solidFill>
            <a:srgbClr val="FFFFFF"/>
          </a:solidFill>
          <a:ln w="31750">
            <a:solidFill>
              <a:srgbClr val="4967E9"/>
            </a:solidFill>
          </a:ln>
        </p:spPr>
        <p:txBody>
          <a:bodyPr wrap="square" lIns="91440" tIns="91440" rIns="91440" bIns="91440" rtlCol="0" anchor="ctr"/>
          <a:lstStyle/>
          <a:p>
            <a:pPr algn="ctr">
              <a:spcAft>
                <a:spcPts val="200"/>
              </a:spcAft>
            </a:pPr>
            <a:r>
              <a:rPr lang="en-US" sz="3600" b="1" i="0" dirty="0">
                <a:solidFill>
                  <a:srgbClr val="FF6D4D"/>
                </a:solidFill>
                <a:latin typeface="Corben"/>
                <a:ea typeface="Corben"/>
                <a:cs typeface="Corben"/>
              </a:rPr>
              <a:t>2.24 ms</a:t>
            </a:r>
          </a:p>
          <a:p>
            <a:pPr algn="ctr">
              <a:spcAft>
                <a:spcPts val="0"/>
              </a:spcAft>
            </a:pPr>
            <a:r>
              <a:rPr lang="en-US" sz="1600" b="0" i="0" dirty="0">
                <a:solidFill>
                  <a:srgbClr val="404155"/>
                </a:solidFill>
                <a:latin typeface="Corben"/>
                <a:ea typeface="Corben"/>
                <a:cs typeface="Corben"/>
              </a:rPr>
              <a:t>twin query, GET /twins/{id}</a:t>
            </a:r>
          </a:p>
        </p:txBody>
      </p:sp>
      <p:sp>
        <p:nvSpPr>
          <p:cNvPr id="7" name="Stat Card 4"/>
          <p:cNvSpPr/>
          <p:nvPr/>
        </p:nvSpPr>
        <p:spPr>
          <a:xfrm>
            <a:off x="13681710" y="8001000"/>
            <a:ext cx="4057650" cy="1554480"/>
          </a:xfrm>
          <a:prstGeom prst="roundRect">
            <a:avLst>
              <a:gd name="adj" fmla="val 8000"/>
            </a:avLst>
          </a:prstGeom>
          <a:solidFill>
            <a:srgbClr val="FFFFFF"/>
          </a:solidFill>
          <a:ln w="31750">
            <a:solidFill>
              <a:srgbClr val="4967E9"/>
            </a:solidFill>
          </a:ln>
        </p:spPr>
        <p:txBody>
          <a:bodyPr wrap="square" lIns="91440" tIns="91440" rIns="91440" bIns="91440" rtlCol="0" anchor="ctr"/>
          <a:lstStyle/>
          <a:p>
            <a:pPr algn="ctr">
              <a:spcAft>
                <a:spcPts val="200"/>
              </a:spcAft>
            </a:pPr>
            <a:r>
              <a:rPr lang="en-US" sz="3600" b="1" i="0" dirty="0">
                <a:solidFill>
                  <a:srgbClr val="FF6D4D"/>
                </a:solidFill>
                <a:latin typeface="Corben"/>
                <a:ea typeface="Corben"/>
                <a:cs typeface="Corben"/>
              </a:rPr>
              <a:t>0.48 ms</a:t>
            </a:r>
          </a:p>
          <a:p>
            <a:pPr algn="ctr">
              <a:spcAft>
                <a:spcPts val="0"/>
              </a:spcAft>
            </a:pPr>
            <a:r>
              <a:rPr lang="en-US" sz="1600" b="0" i="0" dirty="0">
                <a:solidFill>
                  <a:srgbClr val="404155"/>
                </a:solidFill>
                <a:latin typeface="Corben"/>
                <a:ea typeface="Corben"/>
                <a:cs typeface="Corben"/>
              </a:rPr>
              <a:t>What-If projection time</a:t>
            </a:r>
          </a:p>
        </p:txBody>
      </p:sp>
      <p:sp>
        <p:nvSpPr>
          <p:cNvPr id="8" name="TextBox 7"/>
          <p:cNvSpPr txBox="1"/>
          <p:nvPr/>
        </p:nvSpPr>
        <p:spPr>
          <a:xfrm>
            <a:off x="548640" y="9646920"/>
            <a:ext cx="17190720" cy="320040"/>
          </a:xfrm>
          <a:prstGeom prst="rect">
            <a:avLst/>
          </a:prstGeom>
          <a:noFill/>
        </p:spPr>
        <p:txBody>
          <a:bodyPr wrap="square" lIns="0" tIns="0" rIns="0" bIns="0" anchor="t">
            <a:spAutoFit/>
          </a:bodyPr>
          <a:lstStyle/>
          <a:p>
            <a:pPr algn="ctr">
              <a:spcAft>
                <a:spcPts val="0"/>
              </a:spcAft>
            </a:pPr>
            <a:r>
              <a:rPr lang="en-US" sz="1400" b="0" i="1" dirty="0">
                <a:solidFill>
                  <a:srgbClr val="404155"/>
                </a:solidFill>
                <a:latin typeface="Corben"/>
                <a:ea typeface="Corben"/>
                <a:cs typeface="Corben"/>
              </a:rPr>
              <a:t>Verified over 100 sequential cycles on the project testbed.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Literature Survey &amp; Research Gap</a:t>
            </a:r>
          </a:p>
        </p:txBody>
      </p:sp>
      <p:graphicFrame>
        <p:nvGraphicFramePr>
          <p:cNvPr id="3" name="Table 2"/>
          <p:cNvGraphicFramePr>
            <a:graphicFrameLocks noGrp="1"/>
          </p:cNvGraphicFramePr>
          <p:nvPr>
            <p:extLst>
              <p:ext uri="{D42A27DB-BD31-4B8C-83A1-F6EECF244321}">
                <p14:modId xmlns:p14="http://schemas.microsoft.com/office/powerpoint/2010/main" val="939576934"/>
              </p:ext>
            </p:extLst>
          </p:nvPr>
        </p:nvGraphicFramePr>
        <p:xfrm>
          <a:off x="548640" y="1280160"/>
          <a:ext cx="17190720" cy="4572000"/>
        </p:xfrm>
        <a:graphic>
          <a:graphicData uri="http://schemas.openxmlformats.org/drawingml/2006/table">
            <a:tbl>
              <a:tblPr>
                <a:tableStyleId>{2D5ABB26-0587-4C30-8999-92F81FD0307C}</a:tableStyleId>
              </a:tblPr>
              <a:tblGrid>
                <a:gridCol w="3566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gridCol w="5029200">
                  <a:extLst>
                    <a:ext uri="{9D8B030D-6E8A-4147-A177-3AD203B41FA5}">
                      <a16:colId xmlns:a16="http://schemas.microsoft.com/office/drawing/2014/main" val="20003"/>
                    </a:ext>
                  </a:extLst>
                </a:gridCol>
              </a:tblGrid>
              <a:tr h="548640">
                <a:tc>
                  <a:txBody>
                    <a:bodyPr/>
                    <a:lstStyle/>
                    <a:p>
                      <a:pPr algn="l">
                        <a:spcAft>
                          <a:spcPts val="0"/>
                        </a:spcAft>
                      </a:pPr>
                      <a:r>
                        <a:rPr sz="1700" b="1" i="0">
                          <a:solidFill>
                            <a:srgbClr val="FFFFFF"/>
                          </a:solidFill>
                          <a:latin typeface="Corben"/>
                          <a:ea typeface="Corben"/>
                          <a:cs typeface="Corben"/>
                        </a:rPr>
                        <a:t>Reference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1700" b="1" i="0">
                          <a:solidFill>
                            <a:srgbClr val="FFFFFF"/>
                          </a:solidFill>
                          <a:latin typeface="Corben"/>
                          <a:ea typeface="Corben"/>
                          <a:cs typeface="Corben"/>
                        </a:rPr>
                        <a:t>Approach / Focus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1700" b="1" i="0">
                          <a:solidFill>
                            <a:srgbClr val="FFFFFF"/>
                          </a:solidFill>
                          <a:latin typeface="Corben"/>
                          <a:ea typeface="Corben"/>
                          <a:cs typeface="Corben"/>
                        </a:rPr>
                        <a:t>Key Limitation</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1700" b="1" i="0">
                          <a:solidFill>
                            <a:srgbClr val="FFFFFF"/>
                          </a:solidFill>
                          <a:latin typeface="Corben"/>
                          <a:ea typeface="Corben"/>
                          <a:cs typeface="Corben"/>
                        </a:rPr>
                        <a:t>How Digital Class Twin Solves It</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extLst>
                  <a:ext uri="{0D108BD9-81ED-4DB2-BD59-A6C34878D82A}">
                    <a16:rowId xmlns:a16="http://schemas.microsoft.com/office/drawing/2014/main" val="10000"/>
                  </a:ext>
                </a:extLst>
              </a:tr>
              <a:tr h="804672">
                <a:tc>
                  <a:txBody>
                    <a:bodyPr/>
                    <a:lstStyle/>
                    <a:p>
                      <a:pPr algn="l">
                        <a:spcAft>
                          <a:spcPts val="0"/>
                        </a:spcAft>
                      </a:pPr>
                      <a:r>
                        <a:rPr sz="2000" b="1" i="0" dirty="0" err="1">
                          <a:solidFill>
                            <a:srgbClr val="1B2B3A"/>
                          </a:solidFill>
                          <a:latin typeface="Corben"/>
                          <a:ea typeface="Corben"/>
                          <a:cs typeface="Corben"/>
                        </a:rPr>
                        <a:t>Alalawi</a:t>
                      </a:r>
                      <a:r>
                        <a:rPr sz="2000" b="1" i="0" dirty="0">
                          <a:solidFill>
                            <a:srgbClr val="1B2B3A"/>
                          </a:solidFill>
                          <a:latin typeface="Corben"/>
                          <a:ea typeface="Corben"/>
                          <a:cs typeface="Corben"/>
                        </a:rPr>
                        <a:t> et al. (2025)</a:t>
                      </a:r>
                    </a:p>
                    <a:p>
                      <a:pPr algn="l">
                        <a:spcAft>
                          <a:spcPts val="0"/>
                        </a:spcAft>
                      </a:pPr>
                      <a:r>
                        <a:rPr sz="2000" b="0" i="0" dirty="0">
                          <a:solidFill>
                            <a:srgbClr val="404155"/>
                          </a:solidFill>
                          <a:latin typeface="Corben"/>
                          <a:ea typeface="Corben"/>
                          <a:cs typeface="Corben"/>
                        </a:rPr>
                        <a:t>Educ. &amp; Inf. Technol.</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ML performance prediction with extended learning analytics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Batch processing; no live feedback to students or parents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Event-driven updates with sub-30 ms twin refresh</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1"/>
                  </a:ext>
                </a:extLst>
              </a:tr>
              <a:tr h="804672">
                <a:tc>
                  <a:txBody>
                    <a:bodyPr/>
                    <a:lstStyle/>
                    <a:p>
                      <a:pPr algn="l">
                        <a:spcAft>
                          <a:spcPts val="0"/>
                        </a:spcAft>
                      </a:pPr>
                      <a:r>
                        <a:rPr sz="2000" b="1" i="0" dirty="0" err="1">
                          <a:solidFill>
                            <a:srgbClr val="1B2B3A"/>
                          </a:solidFill>
                          <a:latin typeface="Corben"/>
                          <a:ea typeface="Corben"/>
                          <a:cs typeface="Corben"/>
                        </a:rPr>
                        <a:t>Katsuragi</a:t>
                      </a:r>
                      <a:r>
                        <a:rPr sz="2000" b="1" i="0" dirty="0">
                          <a:solidFill>
                            <a:srgbClr val="1B2B3A"/>
                          </a:solidFill>
                          <a:latin typeface="Corben"/>
                          <a:ea typeface="Corben"/>
                          <a:cs typeface="Corben"/>
                        </a:rPr>
                        <a:t> &amp; Tanaka (2022)</a:t>
                      </a:r>
                    </a:p>
                    <a:p>
                      <a:pPr algn="l">
                        <a:spcAft>
                          <a:spcPts val="0"/>
                        </a:spcAft>
                      </a:pPr>
                      <a:r>
                        <a:rPr sz="2000" b="0" i="0" dirty="0">
                          <a:solidFill>
                            <a:srgbClr val="404155"/>
                          </a:solidFill>
                          <a:latin typeface="Corben"/>
                          <a:ea typeface="Corben"/>
                          <a:cs typeface="Corben"/>
                        </a:rPr>
                        <a:t>CSEDU 2022</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dirty="0">
                          <a:solidFill>
                            <a:srgbClr val="1B2B3A"/>
                          </a:solidFill>
                          <a:latin typeface="Corben"/>
                          <a:ea typeface="Corben"/>
                          <a:cs typeface="Corben"/>
                        </a:rPr>
                        <a:t>Interpretable ML model for dropout prediction</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Offline post-hoc model; no intervention sandbox</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Explainable attribution plus What-If simulator</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2"/>
                  </a:ext>
                </a:extLst>
              </a:tr>
              <a:tr h="804672">
                <a:tc>
                  <a:txBody>
                    <a:bodyPr/>
                    <a:lstStyle/>
                    <a:p>
                      <a:pPr algn="l">
                        <a:spcAft>
                          <a:spcPts val="0"/>
                        </a:spcAft>
                      </a:pPr>
                      <a:r>
                        <a:rPr sz="2000" b="1" i="0">
                          <a:solidFill>
                            <a:srgbClr val="1B2B3A"/>
                          </a:solidFill>
                          <a:latin typeface="Corben"/>
                          <a:ea typeface="Corben"/>
                          <a:cs typeface="Corben"/>
                        </a:rPr>
                        <a:t>Tiukhova et al. (2024)</a:t>
                      </a:r>
                    </a:p>
                    <a:p>
                      <a:pPr algn="l">
                        <a:spcAft>
                          <a:spcPts val="0"/>
                        </a:spcAft>
                      </a:pPr>
                      <a:r>
                        <a:rPr sz="2000" b="0" i="0">
                          <a:solidFill>
                            <a:srgbClr val="404155"/>
                          </a:solidFill>
                          <a:latin typeface="Corben"/>
                          <a:ea typeface="Corben"/>
                          <a:cs typeface="Corben"/>
                        </a:rPr>
                        <a:t>J. Learning Analytics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dirty="0">
                          <a:solidFill>
                            <a:srgbClr val="1B2B3A"/>
                          </a:solidFill>
                          <a:latin typeface="Corben"/>
                          <a:ea typeface="Corben"/>
                          <a:cs typeface="Corben"/>
                        </a:rPr>
                        <a:t>Stability of explainable AI in education</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Algorithm-only; no full-stack twin replica</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Living twin tracking rolling 30-day shifts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3"/>
                  </a:ext>
                </a:extLst>
              </a:tr>
              <a:tr h="804672">
                <a:tc>
                  <a:txBody>
                    <a:bodyPr/>
                    <a:lstStyle/>
                    <a:p>
                      <a:pPr algn="l">
                        <a:spcAft>
                          <a:spcPts val="0"/>
                        </a:spcAft>
                      </a:pPr>
                      <a:r>
                        <a:rPr sz="2000" b="1" i="0">
                          <a:solidFill>
                            <a:srgbClr val="1B2B3A"/>
                          </a:solidFill>
                          <a:latin typeface="Corben"/>
                          <a:ea typeface="Corben"/>
                          <a:cs typeface="Corben"/>
                        </a:rPr>
                        <a:t>Grieves &amp; Vickers (2017)</a:t>
                      </a:r>
                    </a:p>
                    <a:p>
                      <a:pPr algn="l">
                        <a:spcAft>
                          <a:spcPts val="0"/>
                        </a:spcAft>
                      </a:pPr>
                      <a:r>
                        <a:rPr sz="2000" b="0" i="0">
                          <a:solidFill>
                            <a:srgbClr val="404155"/>
                          </a:solidFill>
                          <a:latin typeface="Corben"/>
                          <a:ea typeface="Corben"/>
                          <a:cs typeface="Corben"/>
                        </a:rPr>
                        <a:t>Springer Cham</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Foundational Digital Twin framework</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dirty="0">
                          <a:solidFill>
                            <a:srgbClr val="1B2B3A"/>
                          </a:solidFill>
                          <a:latin typeface="Corben"/>
                          <a:ea typeface="Corben"/>
                          <a:cs typeface="Corben"/>
                        </a:rPr>
                        <a:t>Applied only to industrial / mechanical systems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Brings the twin paradigm to academic monitoring</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4"/>
                  </a:ext>
                </a:extLst>
              </a:tr>
              <a:tr h="804672">
                <a:tc>
                  <a:txBody>
                    <a:bodyPr/>
                    <a:lstStyle/>
                    <a:p>
                      <a:pPr algn="l">
                        <a:spcAft>
                          <a:spcPts val="0"/>
                        </a:spcAft>
                      </a:pPr>
                      <a:r>
                        <a:rPr sz="2000" b="1" i="0">
                          <a:solidFill>
                            <a:srgbClr val="1B2B3A"/>
                          </a:solidFill>
                          <a:latin typeface="Corben"/>
                          <a:ea typeface="Corben"/>
                          <a:cs typeface="Corben"/>
                        </a:rPr>
                        <a:t>Plak et al. (2022)</a:t>
                      </a:r>
                    </a:p>
                    <a:p>
                      <a:pPr algn="l">
                        <a:spcAft>
                          <a:spcPts val="0"/>
                        </a:spcAft>
                      </a:pPr>
                      <a:r>
                        <a:rPr sz="2000" b="0" i="0">
                          <a:solidFill>
                            <a:srgbClr val="404155"/>
                          </a:solidFill>
                          <a:latin typeface="Corben"/>
                          <a:ea typeface="Corben"/>
                          <a:cs typeface="Corben"/>
                        </a:rPr>
                        <a:t>Assess. &amp; Eval. High. Educ.</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Early-warning systems for student counselling</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Periodic batch surveys; no daily event telemetry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dirty="0">
                          <a:solidFill>
                            <a:srgbClr val="1B2B3A"/>
                          </a:solidFill>
                          <a:latin typeface="Corben"/>
                          <a:ea typeface="Corben"/>
                          <a:cs typeface="Corben"/>
                        </a:rPr>
                        <a:t>Daily micro-event ingestion (attendance, labs)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548640" y="6400800"/>
            <a:ext cx="73152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Research Gap Identified</a:t>
            </a:r>
          </a:p>
        </p:txBody>
      </p:sp>
      <p:sp>
        <p:nvSpPr>
          <p:cNvPr id="5" name="Rounded Rectangle 4"/>
          <p:cNvSpPr/>
          <p:nvPr/>
        </p:nvSpPr>
        <p:spPr>
          <a:xfrm>
            <a:off x="548640" y="6995160"/>
            <a:ext cx="5577840" cy="265176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274320" tIns="228600" rIns="274320" bIns="228600" rtlCol="0" anchor="t"/>
          <a:lstStyle/>
          <a:p>
            <a:pPr algn="l">
              <a:spcAft>
                <a:spcPts val="600"/>
              </a:spcAft>
            </a:pPr>
            <a:r>
              <a:rPr sz="2000" b="1" i="0" dirty="0">
                <a:solidFill>
                  <a:srgbClr val="FF6D4D"/>
                </a:solidFill>
                <a:latin typeface="Corben"/>
                <a:ea typeface="Corben"/>
                <a:cs typeface="Corben"/>
              </a:rPr>
              <a:t>Continuous synchronization</a:t>
            </a:r>
          </a:p>
          <a:p>
            <a:pPr algn="l">
              <a:spcAft>
                <a:spcPts val="0"/>
              </a:spcAft>
            </a:pPr>
            <a:r>
              <a:rPr sz="2000" b="0" i="0" dirty="0">
                <a:solidFill>
                  <a:srgbClr val="1B2B3A"/>
                </a:solidFill>
                <a:latin typeface="Corben"/>
                <a:ea typeface="Corben"/>
                <a:cs typeface="Corben"/>
              </a:rPr>
              <a:t>Existing models use retrospective semester datasets, not live event streams.</a:t>
            </a:r>
          </a:p>
        </p:txBody>
      </p:sp>
      <p:sp>
        <p:nvSpPr>
          <p:cNvPr id="6" name="Rounded Rectangle 5"/>
          <p:cNvSpPr/>
          <p:nvPr/>
        </p:nvSpPr>
        <p:spPr>
          <a:xfrm>
            <a:off x="6309359" y="6995160"/>
            <a:ext cx="5577840" cy="265176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274320" tIns="228600" rIns="274320" bIns="228600" rtlCol="0" anchor="t"/>
          <a:lstStyle/>
          <a:p>
            <a:pPr algn="l">
              <a:spcAft>
                <a:spcPts val="600"/>
              </a:spcAft>
            </a:pPr>
            <a:r>
              <a:rPr sz="2000" b="1" i="0" dirty="0">
                <a:solidFill>
                  <a:srgbClr val="FF6D4D"/>
                </a:solidFill>
                <a:latin typeface="Corben"/>
                <a:ea typeface="Corben"/>
                <a:cs typeface="Corben"/>
              </a:rPr>
              <a:t>The black-box usability gap</a:t>
            </a:r>
          </a:p>
          <a:p>
            <a:pPr algn="l">
              <a:spcAft>
                <a:spcPts val="0"/>
              </a:spcAft>
            </a:pPr>
            <a:r>
              <a:rPr sz="2000" b="0" i="0" dirty="0">
                <a:solidFill>
                  <a:srgbClr val="1B2B3A"/>
                </a:solidFill>
                <a:latin typeface="Corben"/>
                <a:ea typeface="Corben"/>
                <a:cs typeface="Corben"/>
              </a:rPr>
              <a:t>Prior work outputs raw probabilities with no factor attribution advisors can use.</a:t>
            </a:r>
          </a:p>
        </p:txBody>
      </p:sp>
      <p:sp>
        <p:nvSpPr>
          <p:cNvPr id="7" name="Rounded Rectangle 6"/>
          <p:cNvSpPr/>
          <p:nvPr/>
        </p:nvSpPr>
        <p:spPr>
          <a:xfrm>
            <a:off x="12070080" y="6995160"/>
            <a:ext cx="5577840" cy="265176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274320" tIns="228600" rIns="274320" bIns="228600" rtlCol="0" anchor="t"/>
          <a:lstStyle/>
          <a:p>
            <a:pPr algn="l">
              <a:spcAft>
                <a:spcPts val="600"/>
              </a:spcAft>
            </a:pPr>
            <a:r>
              <a:rPr sz="2000" b="1" i="0" dirty="0">
                <a:solidFill>
                  <a:srgbClr val="FF6D4D"/>
                </a:solidFill>
                <a:latin typeface="Corben"/>
                <a:ea typeface="Corben"/>
                <a:cs typeface="Corben"/>
              </a:rPr>
              <a:t>In-memory prognosis</a:t>
            </a:r>
          </a:p>
          <a:p>
            <a:pPr algn="l">
              <a:spcAft>
                <a:spcPts val="0"/>
              </a:spcAft>
            </a:pPr>
            <a:r>
              <a:rPr sz="2000" b="0" i="0" dirty="0">
                <a:solidFill>
                  <a:srgbClr val="1B2B3A"/>
                </a:solidFill>
                <a:latin typeface="Corben"/>
                <a:ea typeface="Corben"/>
                <a:cs typeface="Corben"/>
              </a:rPr>
              <a:t>No campus platform lets mentors test what-if recovery targets before guidance.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System Design, Architecture &amp; Methodology</a:t>
            </a:r>
          </a:p>
        </p:txBody>
      </p:sp>
      <p:sp>
        <p:nvSpPr>
          <p:cNvPr id="3" name="TextBox 2"/>
          <p:cNvSpPr txBox="1"/>
          <p:nvPr/>
        </p:nvSpPr>
        <p:spPr>
          <a:xfrm>
            <a:off x="548640" y="1234440"/>
            <a:ext cx="9509760" cy="502920"/>
          </a:xfrm>
          <a:prstGeom prst="rect">
            <a:avLst/>
          </a:prstGeom>
          <a:noFill/>
        </p:spPr>
        <p:txBody>
          <a:bodyPr wrap="square" lIns="0" tIns="0" rIns="0" bIns="0" anchor="t">
            <a:spAutoFit/>
          </a:bodyPr>
          <a:lstStyle/>
          <a:p>
            <a:pPr algn="l">
              <a:spcAft>
                <a:spcPts val="600"/>
              </a:spcAft>
            </a:pPr>
            <a:r>
              <a:rPr sz="2400" b="0" i="0" u="sng">
                <a:solidFill>
                  <a:srgbClr val="FF6D4D"/>
                </a:solidFill>
                <a:latin typeface="Corben"/>
                <a:ea typeface="Corben"/>
                <a:cs typeface="Corben"/>
              </a:rPr>
              <a:t>System Architecture</a:t>
            </a:r>
          </a:p>
        </p:txBody>
      </p:sp>
      <p:sp>
        <p:nvSpPr>
          <p:cNvPr id="4" name="Rounded Rectangle 3"/>
          <p:cNvSpPr/>
          <p:nvPr/>
        </p:nvSpPr>
        <p:spPr>
          <a:xfrm>
            <a:off x="548640" y="1783080"/>
            <a:ext cx="9692640" cy="1417320"/>
          </a:xfrm>
          <a:prstGeom prst="roundRect">
            <a:avLst>
              <a:gd name="adj" fmla="val 6000"/>
            </a:avLst>
          </a:prstGeom>
          <a:solidFill>
            <a:srgbClr val="EEF2FF"/>
          </a:solidFill>
          <a:ln w="190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t"/>
          <a:lstStyle/>
          <a:p>
            <a:pPr algn="l">
              <a:spcAft>
                <a:spcPts val="600"/>
              </a:spcAft>
            </a:pPr>
            <a:r>
              <a:rPr sz="2000" b="1" i="0" dirty="0">
                <a:solidFill>
                  <a:srgbClr val="4967E9"/>
                </a:solidFill>
                <a:latin typeface="Corben"/>
                <a:ea typeface="Corben"/>
                <a:cs typeface="Corben"/>
              </a:rPr>
              <a:t>Classroom Event Ingestion</a:t>
            </a:r>
          </a:p>
        </p:txBody>
      </p:sp>
      <p:sp>
        <p:nvSpPr>
          <p:cNvPr id="5" name="Rounded Rectangle 4"/>
          <p:cNvSpPr/>
          <p:nvPr/>
        </p:nvSpPr>
        <p:spPr>
          <a:xfrm>
            <a:off x="731520" y="2194560"/>
            <a:ext cx="2999232" cy="86868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Attendance swipe / register</a:t>
            </a:r>
          </a:p>
        </p:txBody>
      </p:sp>
      <p:sp>
        <p:nvSpPr>
          <p:cNvPr id="6" name="Rounded Rectangle 5"/>
          <p:cNvSpPr/>
          <p:nvPr/>
        </p:nvSpPr>
        <p:spPr>
          <a:xfrm>
            <a:off x="3895344" y="2194560"/>
            <a:ext cx="2999232" cy="86868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CIA / quiz / assignment marks</a:t>
            </a:r>
          </a:p>
        </p:txBody>
      </p:sp>
      <p:sp>
        <p:nvSpPr>
          <p:cNvPr id="7" name="Rounded Rectangle 6"/>
          <p:cNvSpPr/>
          <p:nvPr/>
        </p:nvSpPr>
        <p:spPr>
          <a:xfrm>
            <a:off x="7059168" y="2194560"/>
            <a:ext cx="2999232" cy="86868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Conduct, merit &amp; disciplinary flags</a:t>
            </a:r>
          </a:p>
        </p:txBody>
      </p:sp>
      <p:sp>
        <p:nvSpPr>
          <p:cNvPr id="8" name="Down Arrow 7"/>
          <p:cNvSpPr/>
          <p:nvPr/>
        </p:nvSpPr>
        <p:spPr>
          <a:xfrm>
            <a:off x="5212080" y="3227832"/>
            <a:ext cx="365760" cy="274320"/>
          </a:xfrm>
          <a:prstGeom prst="downArrow">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3547872"/>
            <a:ext cx="9692640" cy="1600200"/>
          </a:xfrm>
          <a:prstGeom prst="roundRect">
            <a:avLst>
              <a:gd name="adj" fmla="val 6000"/>
            </a:avLst>
          </a:prstGeom>
          <a:solidFill>
            <a:srgbClr val="EEF2FF"/>
          </a:solidFill>
          <a:ln w="190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t"/>
          <a:lstStyle/>
          <a:p>
            <a:pPr algn="l">
              <a:spcAft>
                <a:spcPts val="600"/>
              </a:spcAft>
            </a:pPr>
            <a:r>
              <a:rPr sz="2000" b="1" i="0" dirty="0" err="1">
                <a:solidFill>
                  <a:srgbClr val="4967E9"/>
                </a:solidFill>
                <a:latin typeface="Corben"/>
                <a:ea typeface="Corben"/>
                <a:cs typeface="Corben"/>
              </a:rPr>
              <a:t>FastAPI</a:t>
            </a:r>
            <a:r>
              <a:rPr sz="2000" b="1" i="0" dirty="0">
                <a:solidFill>
                  <a:srgbClr val="4967E9"/>
                </a:solidFill>
                <a:latin typeface="Corben"/>
                <a:ea typeface="Corben"/>
                <a:cs typeface="Corben"/>
              </a:rPr>
              <a:t> Core Pipeline (event-driven)</a:t>
            </a:r>
          </a:p>
        </p:txBody>
      </p:sp>
      <p:sp>
        <p:nvSpPr>
          <p:cNvPr id="10" name="Rounded Rectangle 9"/>
          <p:cNvSpPr/>
          <p:nvPr/>
        </p:nvSpPr>
        <p:spPr>
          <a:xfrm>
            <a:off x="731520" y="3959352"/>
            <a:ext cx="1733702"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REST ingestion /events</a:t>
            </a:r>
          </a:p>
        </p:txBody>
      </p:sp>
      <p:sp>
        <p:nvSpPr>
          <p:cNvPr id="11" name="Rounded Rectangle 10"/>
          <p:cNvSpPr/>
          <p:nvPr/>
        </p:nvSpPr>
        <p:spPr>
          <a:xfrm>
            <a:off x="2629814" y="3959352"/>
            <a:ext cx="1733702"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Schema validation</a:t>
            </a:r>
          </a:p>
        </p:txBody>
      </p:sp>
      <p:sp>
        <p:nvSpPr>
          <p:cNvPr id="12" name="Rounded Rectangle 11"/>
          <p:cNvSpPr/>
          <p:nvPr/>
        </p:nvSpPr>
        <p:spPr>
          <a:xfrm>
            <a:off x="4528108" y="3959352"/>
            <a:ext cx="1733702"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b="0" i="0" dirty="0">
                <a:solidFill>
                  <a:srgbClr val="1B2B3A"/>
                </a:solidFill>
                <a:latin typeface="Corben"/>
                <a:ea typeface="Corben"/>
                <a:cs typeface="Corben"/>
              </a:rPr>
              <a:t>30-day feature engine</a:t>
            </a:r>
          </a:p>
        </p:txBody>
      </p:sp>
      <p:sp>
        <p:nvSpPr>
          <p:cNvPr id="13" name="Rounded Rectangle 12"/>
          <p:cNvSpPr/>
          <p:nvPr/>
        </p:nvSpPr>
        <p:spPr>
          <a:xfrm>
            <a:off x="6426403" y="3959352"/>
            <a:ext cx="1733702"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Risk engine (0–100)</a:t>
            </a:r>
          </a:p>
        </p:txBody>
      </p:sp>
      <p:sp>
        <p:nvSpPr>
          <p:cNvPr id="14" name="Rounded Rectangle 13"/>
          <p:cNvSpPr/>
          <p:nvPr/>
        </p:nvSpPr>
        <p:spPr>
          <a:xfrm>
            <a:off x="8324697" y="3959352"/>
            <a:ext cx="1733702"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Hysteresis state machine</a:t>
            </a:r>
          </a:p>
        </p:txBody>
      </p:sp>
      <p:sp>
        <p:nvSpPr>
          <p:cNvPr id="15" name="Down Arrow 14"/>
          <p:cNvSpPr/>
          <p:nvPr/>
        </p:nvSpPr>
        <p:spPr>
          <a:xfrm>
            <a:off x="5212080" y="5175504"/>
            <a:ext cx="365760" cy="274320"/>
          </a:xfrm>
          <a:prstGeom prst="downArrow">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48640" y="5495544"/>
            <a:ext cx="9692640" cy="1417320"/>
          </a:xfrm>
          <a:prstGeom prst="roundRect">
            <a:avLst>
              <a:gd name="adj" fmla="val 6000"/>
            </a:avLst>
          </a:prstGeom>
          <a:solidFill>
            <a:srgbClr val="EEF2FF"/>
          </a:solidFill>
          <a:ln w="190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t"/>
          <a:lstStyle/>
          <a:p>
            <a:pPr algn="l">
              <a:spcAft>
                <a:spcPts val="600"/>
              </a:spcAft>
            </a:pPr>
            <a:r>
              <a:rPr sz="2000" b="1" i="0" dirty="0">
                <a:solidFill>
                  <a:srgbClr val="4967E9"/>
                </a:solidFill>
                <a:latin typeface="Corben"/>
                <a:ea typeface="Corben"/>
                <a:cs typeface="Corben"/>
              </a:rPr>
              <a:t>Persistence &amp; Alerts</a:t>
            </a:r>
          </a:p>
        </p:txBody>
      </p:sp>
      <p:sp>
        <p:nvSpPr>
          <p:cNvPr id="17" name="Rounded Rectangle 16"/>
          <p:cNvSpPr/>
          <p:nvPr/>
        </p:nvSpPr>
        <p:spPr>
          <a:xfrm>
            <a:off x="731520" y="5907024"/>
            <a:ext cx="2999232" cy="86868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Audit snapshot engine</a:t>
            </a:r>
          </a:p>
        </p:txBody>
      </p:sp>
      <p:sp>
        <p:nvSpPr>
          <p:cNvPr id="18" name="Rounded Rectangle 17"/>
          <p:cNvSpPr/>
          <p:nvPr/>
        </p:nvSpPr>
        <p:spPr>
          <a:xfrm>
            <a:off x="3895344" y="5907024"/>
            <a:ext cx="2999232" cy="86868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Mentor alert engine</a:t>
            </a:r>
          </a:p>
        </p:txBody>
      </p:sp>
      <p:sp>
        <p:nvSpPr>
          <p:cNvPr id="19" name="Rounded Rectangle 18"/>
          <p:cNvSpPr/>
          <p:nvPr/>
        </p:nvSpPr>
        <p:spPr>
          <a:xfrm>
            <a:off x="7059168" y="5907024"/>
            <a:ext cx="2999232" cy="86868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err="1">
                <a:solidFill>
                  <a:srgbClr val="1B2B3A"/>
                </a:solidFill>
                <a:latin typeface="Corben"/>
                <a:ea typeface="Corben"/>
                <a:cs typeface="Corben"/>
              </a:rPr>
              <a:t>SQLAlchemy</a:t>
            </a:r>
            <a:r>
              <a:rPr sz="2000" b="0" i="0" dirty="0">
                <a:solidFill>
                  <a:srgbClr val="1B2B3A"/>
                </a:solidFill>
                <a:latin typeface="Corben"/>
                <a:ea typeface="Corben"/>
                <a:cs typeface="Corben"/>
              </a:rPr>
              <a:t> DB (SQLite / PostgreSQL)</a:t>
            </a:r>
          </a:p>
        </p:txBody>
      </p:sp>
      <p:sp>
        <p:nvSpPr>
          <p:cNvPr id="20" name="Down Arrow 19"/>
          <p:cNvSpPr/>
          <p:nvPr/>
        </p:nvSpPr>
        <p:spPr>
          <a:xfrm>
            <a:off x="5212080" y="6940296"/>
            <a:ext cx="365760" cy="274320"/>
          </a:xfrm>
          <a:prstGeom prst="downArrow">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48640" y="7260336"/>
            <a:ext cx="9692640" cy="1600200"/>
          </a:xfrm>
          <a:prstGeom prst="roundRect">
            <a:avLst>
              <a:gd name="adj" fmla="val 6000"/>
            </a:avLst>
          </a:prstGeom>
          <a:solidFill>
            <a:srgbClr val="EEF2FF"/>
          </a:solidFill>
          <a:ln w="190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t"/>
          <a:lstStyle/>
          <a:p>
            <a:pPr algn="l">
              <a:spcAft>
                <a:spcPts val="600"/>
              </a:spcAft>
            </a:pPr>
            <a:r>
              <a:rPr sz="2000" b="1" i="0" dirty="0">
                <a:solidFill>
                  <a:srgbClr val="4967E9"/>
                </a:solidFill>
                <a:latin typeface="Corben"/>
                <a:ea typeface="Corben"/>
                <a:cs typeface="Corben"/>
              </a:rPr>
              <a:t>Multi-Stakeholder Portals (React 18 + Vite)</a:t>
            </a:r>
          </a:p>
        </p:txBody>
      </p:sp>
      <p:sp>
        <p:nvSpPr>
          <p:cNvPr id="22" name="Rounded Rectangle 21"/>
          <p:cNvSpPr/>
          <p:nvPr/>
        </p:nvSpPr>
        <p:spPr>
          <a:xfrm>
            <a:off x="731520" y="7671816"/>
            <a:ext cx="2208276"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Student &amp; mobile client</a:t>
            </a:r>
          </a:p>
        </p:txBody>
      </p:sp>
      <p:sp>
        <p:nvSpPr>
          <p:cNvPr id="23" name="Rounded Rectangle 22"/>
          <p:cNvSpPr/>
          <p:nvPr/>
        </p:nvSpPr>
        <p:spPr>
          <a:xfrm>
            <a:off x="3104388" y="7671816"/>
            <a:ext cx="2208276"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Faculty risk hub</a:t>
            </a:r>
          </a:p>
        </p:txBody>
      </p:sp>
      <p:sp>
        <p:nvSpPr>
          <p:cNvPr id="24" name="Rounded Rectangle 23"/>
          <p:cNvSpPr/>
          <p:nvPr/>
        </p:nvSpPr>
        <p:spPr>
          <a:xfrm>
            <a:off x="5477256" y="7671816"/>
            <a:ext cx="2208276"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Parent portal</a:t>
            </a:r>
          </a:p>
        </p:txBody>
      </p:sp>
      <p:sp>
        <p:nvSpPr>
          <p:cNvPr id="25" name="Rounded Rectangle 24"/>
          <p:cNvSpPr/>
          <p:nvPr/>
        </p:nvSpPr>
        <p:spPr>
          <a:xfrm>
            <a:off x="7850124" y="7671816"/>
            <a:ext cx="2208276" cy="1051560"/>
          </a:xfrm>
          <a:prstGeom prst="roundRect">
            <a:avLst>
              <a:gd name="adj" fmla="val 12000"/>
            </a:avLst>
          </a:prstGeom>
          <a:solidFill>
            <a:srgbClr val="FFFFFF"/>
          </a:solidFill>
          <a:ln w="2540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0"/>
              </a:spcAft>
            </a:pPr>
            <a:r>
              <a:rPr sz="2000" b="0" i="0" dirty="0">
                <a:solidFill>
                  <a:srgbClr val="1B2B3A"/>
                </a:solidFill>
                <a:latin typeface="Corben"/>
                <a:ea typeface="Corben"/>
                <a:cs typeface="Corben"/>
              </a:rPr>
              <a:t>What-If workspace</a:t>
            </a:r>
          </a:p>
        </p:txBody>
      </p:sp>
      <p:sp>
        <p:nvSpPr>
          <p:cNvPr id="26" name="TextBox 25"/>
          <p:cNvSpPr txBox="1"/>
          <p:nvPr/>
        </p:nvSpPr>
        <p:spPr>
          <a:xfrm>
            <a:off x="10698480" y="1234440"/>
            <a:ext cx="7040880" cy="502920"/>
          </a:xfrm>
          <a:prstGeom prst="rect">
            <a:avLst/>
          </a:prstGeom>
          <a:noFill/>
        </p:spPr>
        <p:txBody>
          <a:bodyPr wrap="square" lIns="0" tIns="0" rIns="0" bIns="0" anchor="t">
            <a:spAutoFit/>
          </a:bodyPr>
          <a:lstStyle/>
          <a:p>
            <a:pPr algn="l">
              <a:spcAft>
                <a:spcPts val="600"/>
              </a:spcAft>
            </a:pPr>
            <a:r>
              <a:rPr sz="2400" b="0" i="0" u="sng">
                <a:solidFill>
                  <a:srgbClr val="FF6D4D"/>
                </a:solidFill>
                <a:latin typeface="Corben"/>
                <a:ea typeface="Corben"/>
                <a:cs typeface="Corben"/>
              </a:rPr>
              <a:t>Design Methodology</a:t>
            </a:r>
          </a:p>
        </p:txBody>
      </p:sp>
      <p:sp>
        <p:nvSpPr>
          <p:cNvPr id="27" name="TextBox 26"/>
          <p:cNvSpPr txBox="1"/>
          <p:nvPr/>
        </p:nvSpPr>
        <p:spPr>
          <a:xfrm>
            <a:off x="10698480" y="1783080"/>
            <a:ext cx="7040880" cy="3657600"/>
          </a:xfrm>
          <a:prstGeom prst="rect">
            <a:avLst/>
          </a:prstGeom>
          <a:noFill/>
        </p:spPr>
        <p:txBody>
          <a:bodyPr wrap="square" lIns="0" tIns="0" rIns="0" bIns="0" anchor="t">
            <a:spAutoFit/>
          </a:bodyPr>
          <a:lstStyle/>
          <a:p>
            <a:pPr marL="320040" indent="-320040" algn="l">
              <a:spcAft>
                <a:spcPts val="700"/>
              </a:spcAft>
              <a:buChar char="•"/>
            </a:pPr>
            <a:r>
              <a:rPr sz="2400" b="1" i="0" dirty="0">
                <a:solidFill>
                  <a:srgbClr val="1B2B3A"/>
                </a:solidFill>
                <a:latin typeface="Corben"/>
                <a:ea typeface="Corben"/>
                <a:cs typeface="Corben"/>
              </a:rPr>
              <a:t>Event-driven: </a:t>
            </a:r>
            <a:r>
              <a:rPr sz="2400" b="0" i="0" dirty="0">
                <a:solidFill>
                  <a:srgbClr val="1B2B3A"/>
                </a:solidFill>
                <a:latin typeface="Corben"/>
                <a:ea typeface="Corben"/>
                <a:cs typeface="Corben"/>
              </a:rPr>
              <a:t>events arrive via POST /events, are validated with </a:t>
            </a:r>
            <a:r>
              <a:rPr sz="2400" b="0" i="0" dirty="0" err="1">
                <a:solidFill>
                  <a:srgbClr val="1B2B3A"/>
                </a:solidFill>
                <a:latin typeface="Corben"/>
                <a:ea typeface="Corben"/>
                <a:cs typeface="Corben"/>
              </a:rPr>
              <a:t>Pydantic</a:t>
            </a:r>
            <a:r>
              <a:rPr sz="2400" b="0" i="0" dirty="0">
                <a:solidFill>
                  <a:srgbClr val="1B2B3A"/>
                </a:solidFill>
                <a:latin typeface="Corben"/>
                <a:ea typeface="Corben"/>
                <a:cs typeface="Corben"/>
              </a:rPr>
              <a:t> and processed at once.</a:t>
            </a:r>
          </a:p>
          <a:p>
            <a:pPr marL="320040" indent="-320040" algn="l">
              <a:spcAft>
                <a:spcPts val="700"/>
              </a:spcAft>
              <a:buChar char="•"/>
            </a:pPr>
            <a:r>
              <a:rPr sz="2400" b="1" i="0" dirty="0">
                <a:solidFill>
                  <a:srgbClr val="1B2B3A"/>
                </a:solidFill>
                <a:latin typeface="Corben"/>
                <a:ea typeface="Corben"/>
                <a:cs typeface="Corben"/>
              </a:rPr>
              <a:t>Rolling 30-day window: </a:t>
            </a:r>
            <a:r>
              <a:rPr sz="2400" b="0" i="0" dirty="0">
                <a:solidFill>
                  <a:srgbClr val="1B2B3A"/>
                </a:solidFill>
                <a:latin typeface="Corben"/>
                <a:ea typeface="Corben"/>
                <a:cs typeface="Corben"/>
              </a:rPr>
              <a:t>captures recent deterioration, not cumulative totals.</a:t>
            </a:r>
          </a:p>
          <a:p>
            <a:pPr marL="320040" indent="-320040" algn="l">
              <a:spcAft>
                <a:spcPts val="700"/>
              </a:spcAft>
              <a:buChar char="•"/>
            </a:pPr>
            <a:r>
              <a:rPr sz="2400" b="1" i="0" dirty="0">
                <a:solidFill>
                  <a:srgbClr val="1B2B3A"/>
                </a:solidFill>
                <a:latin typeface="Corben"/>
                <a:ea typeface="Corben"/>
                <a:cs typeface="Corben"/>
              </a:rPr>
              <a:t>Hysteresis guard: </a:t>
            </a:r>
            <a:r>
              <a:rPr sz="2400" b="0" i="0" dirty="0">
                <a:solidFill>
                  <a:srgbClr val="1B2B3A"/>
                </a:solidFill>
                <a:latin typeface="Corben"/>
                <a:ea typeface="Corben"/>
                <a:cs typeface="Corben"/>
              </a:rPr>
              <a:t>a ±2.0 point buffer stops alerts flickering near cut-offs.</a:t>
            </a:r>
          </a:p>
          <a:p>
            <a:pPr marL="320040" indent="-320040" algn="l">
              <a:spcAft>
                <a:spcPts val="700"/>
              </a:spcAft>
              <a:buChar char="•"/>
            </a:pPr>
            <a:r>
              <a:rPr sz="2400" b="1" i="0" dirty="0">
                <a:solidFill>
                  <a:srgbClr val="1B2B3A"/>
                </a:solidFill>
                <a:latin typeface="Corben"/>
                <a:ea typeface="Corben"/>
                <a:cs typeface="Corben"/>
              </a:rPr>
              <a:t>Non-destructive What-If: </a:t>
            </a:r>
            <a:r>
              <a:rPr sz="2400" b="0" i="0" dirty="0">
                <a:solidFill>
                  <a:srgbClr val="1B2B3A"/>
                </a:solidFill>
                <a:latin typeface="Corben"/>
                <a:ea typeface="Corben"/>
                <a:cs typeface="Corben"/>
              </a:rPr>
              <a:t>shadow twin copies run in memory, with no database writes.</a:t>
            </a:r>
          </a:p>
        </p:txBody>
      </p:sp>
      <p:sp>
        <p:nvSpPr>
          <p:cNvPr id="28" name="Rounded Rectangle 27"/>
          <p:cNvSpPr/>
          <p:nvPr/>
        </p:nvSpPr>
        <p:spPr>
          <a:xfrm>
            <a:off x="10698480" y="5486400"/>
            <a:ext cx="7040880" cy="160020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ctr">
              <a:spcAft>
                <a:spcPts val="200"/>
              </a:spcAft>
            </a:pPr>
            <a:r>
              <a:rPr sz="1600" b="1" i="0">
                <a:solidFill>
                  <a:srgbClr val="FF6D4D"/>
                </a:solidFill>
                <a:latin typeface="Corben"/>
                <a:ea typeface="Corben"/>
                <a:cs typeface="Corben"/>
              </a:rPr>
              <a:t>Composite Health Score</a:t>
            </a:r>
          </a:p>
          <a:p>
            <a:pPr algn="ctr">
              <a:spcAft>
                <a:spcPts val="200"/>
              </a:spcAft>
            </a:pPr>
            <a:r>
              <a:rPr sz="2200" b="1" i="0">
                <a:solidFill>
                  <a:srgbClr val="1B2B3A"/>
                </a:solidFill>
                <a:latin typeface="Corben"/>
                <a:ea typeface="Corben"/>
                <a:cs typeface="Corben"/>
              </a:rPr>
              <a:t>H = 0.50·A + 0.30·C + 0.20·B</a:t>
            </a:r>
          </a:p>
          <a:p>
            <a:pPr algn="ctr">
              <a:spcAft>
                <a:spcPts val="0"/>
              </a:spcAft>
            </a:pPr>
            <a:r>
              <a:rPr sz="1400" b="0" i="0">
                <a:solidFill>
                  <a:srgbClr val="404155"/>
                </a:solidFill>
                <a:latin typeface="Corben"/>
                <a:ea typeface="Corben"/>
                <a:cs typeface="Corben"/>
              </a:rPr>
              <a:t>A: CIA average   C: 30-day attendance   B: conduct.   Risk R = 100 − H</a:t>
            </a:r>
          </a:p>
        </p:txBody>
      </p:sp>
      <p:sp>
        <p:nvSpPr>
          <p:cNvPr id="29" name="Rounded Rectangle 28"/>
          <p:cNvSpPr/>
          <p:nvPr/>
        </p:nvSpPr>
        <p:spPr>
          <a:xfrm>
            <a:off x="10698480" y="7315200"/>
            <a:ext cx="2286000" cy="1005840"/>
          </a:xfrm>
          <a:prstGeom prst="roundRect">
            <a:avLst>
              <a:gd name="adj" fmla="val 8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ctr">
              <a:spcAft>
                <a:spcPts val="0"/>
              </a:spcAft>
            </a:pPr>
            <a:r>
              <a:rPr sz="2000" b="1" i="0">
                <a:solidFill>
                  <a:srgbClr val="FFFFFF"/>
                </a:solidFill>
                <a:latin typeface="Corben"/>
                <a:ea typeface="Corben"/>
                <a:cs typeface="Corben"/>
              </a:rPr>
              <a:t>Stable</a:t>
            </a:r>
          </a:p>
          <a:p>
            <a:pPr algn="ctr">
              <a:spcAft>
                <a:spcPts val="0"/>
              </a:spcAft>
            </a:pPr>
            <a:r>
              <a:rPr sz="1600" b="0" i="0">
                <a:solidFill>
                  <a:srgbClr val="FFFFFF"/>
                </a:solidFill>
                <a:latin typeface="Corben"/>
                <a:ea typeface="Corben"/>
                <a:cs typeface="Corben"/>
              </a:rPr>
              <a:t>H ≥ 75</a:t>
            </a:r>
          </a:p>
        </p:txBody>
      </p:sp>
      <p:sp>
        <p:nvSpPr>
          <p:cNvPr id="30" name="Rounded Rectangle 29"/>
          <p:cNvSpPr/>
          <p:nvPr/>
        </p:nvSpPr>
        <p:spPr>
          <a:xfrm>
            <a:off x="13075919" y="7315200"/>
            <a:ext cx="2286000" cy="1005840"/>
          </a:xfrm>
          <a:prstGeom prst="roundRect">
            <a:avLst>
              <a:gd name="adj" fmla="val 8000"/>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ctr">
              <a:spcAft>
                <a:spcPts val="0"/>
              </a:spcAft>
            </a:pPr>
            <a:r>
              <a:rPr sz="2000" b="1" i="0">
                <a:solidFill>
                  <a:srgbClr val="FFFFFF"/>
                </a:solidFill>
                <a:latin typeface="Corben"/>
                <a:ea typeface="Corben"/>
                <a:cs typeface="Corben"/>
              </a:rPr>
              <a:t>Warning</a:t>
            </a:r>
          </a:p>
          <a:p>
            <a:pPr algn="ctr">
              <a:spcAft>
                <a:spcPts val="0"/>
              </a:spcAft>
            </a:pPr>
            <a:r>
              <a:rPr sz="1600" b="0" i="0">
                <a:solidFill>
                  <a:srgbClr val="FFFFFF"/>
                </a:solidFill>
                <a:latin typeface="Corben"/>
                <a:ea typeface="Corben"/>
                <a:cs typeface="Corben"/>
              </a:rPr>
              <a:t>50 – 75</a:t>
            </a:r>
          </a:p>
        </p:txBody>
      </p:sp>
      <p:sp>
        <p:nvSpPr>
          <p:cNvPr id="31" name="Rounded Rectangle 30"/>
          <p:cNvSpPr/>
          <p:nvPr/>
        </p:nvSpPr>
        <p:spPr>
          <a:xfrm>
            <a:off x="15453359" y="7315200"/>
            <a:ext cx="2286000" cy="1005840"/>
          </a:xfrm>
          <a:prstGeom prst="roundRect">
            <a:avLst>
              <a:gd name="adj" fmla="val 8000"/>
            </a:avLst>
          </a:prstGeom>
          <a:solidFill>
            <a:srgbClr val="D93A3A"/>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ctr">
              <a:spcAft>
                <a:spcPts val="0"/>
              </a:spcAft>
            </a:pPr>
            <a:r>
              <a:rPr sz="2000" b="1" i="0">
                <a:solidFill>
                  <a:srgbClr val="FFFFFF"/>
                </a:solidFill>
                <a:latin typeface="Corben"/>
                <a:ea typeface="Corben"/>
                <a:cs typeface="Corben"/>
              </a:rPr>
              <a:t>Critical</a:t>
            </a:r>
          </a:p>
          <a:p>
            <a:pPr algn="ctr">
              <a:spcAft>
                <a:spcPts val="0"/>
              </a:spcAft>
            </a:pPr>
            <a:r>
              <a:rPr sz="1600" b="0" i="0">
                <a:solidFill>
                  <a:srgbClr val="FFFFFF"/>
                </a:solidFill>
                <a:latin typeface="Corben"/>
                <a:ea typeface="Corben"/>
                <a:cs typeface="Corben"/>
              </a:rPr>
              <a:t>H &lt; 50</a:t>
            </a:r>
          </a:p>
        </p:txBody>
      </p:sp>
      <p:sp>
        <p:nvSpPr>
          <p:cNvPr id="32" name="TextBox 31"/>
          <p:cNvSpPr txBox="1"/>
          <p:nvPr/>
        </p:nvSpPr>
        <p:spPr>
          <a:xfrm>
            <a:off x="10698480" y="8503920"/>
            <a:ext cx="7040880" cy="553998"/>
          </a:xfrm>
          <a:prstGeom prst="rect">
            <a:avLst/>
          </a:prstGeom>
          <a:noFill/>
        </p:spPr>
        <p:txBody>
          <a:bodyPr wrap="square" lIns="0" tIns="0" rIns="0" bIns="0" anchor="t">
            <a:spAutoFit/>
          </a:bodyPr>
          <a:lstStyle/>
          <a:p>
            <a:pPr algn="l">
              <a:spcAft>
                <a:spcPts val="0"/>
              </a:spcAft>
            </a:pPr>
            <a:r>
              <a:rPr b="0" i="0" dirty="0">
                <a:solidFill>
                  <a:srgbClr val="404155"/>
                </a:solidFill>
                <a:latin typeface="Corben"/>
                <a:ea typeface="Corben"/>
                <a:cs typeface="Corben"/>
              </a:rPr>
              <a:t>Hysteresis: exit Critical at H ≥ 52, enter Critical at H &lt; 48; reach Stable at H ≥ 77, drop from Stable at H &lt; 73.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Implementation Details &amp; Completed Modules</a:t>
            </a:r>
          </a:p>
        </p:txBody>
      </p:sp>
      <p:graphicFrame>
        <p:nvGraphicFramePr>
          <p:cNvPr id="3" name="Table 2"/>
          <p:cNvGraphicFramePr>
            <a:graphicFrameLocks noGrp="1"/>
          </p:cNvGraphicFramePr>
          <p:nvPr>
            <p:extLst>
              <p:ext uri="{D42A27DB-BD31-4B8C-83A1-F6EECF244321}">
                <p14:modId xmlns:p14="http://schemas.microsoft.com/office/powerpoint/2010/main" val="2159754144"/>
              </p:ext>
            </p:extLst>
          </p:nvPr>
        </p:nvGraphicFramePr>
        <p:xfrm>
          <a:off x="548640" y="1280160"/>
          <a:ext cx="17190720" cy="5504688"/>
        </p:xfrm>
        <a:graphic>
          <a:graphicData uri="http://schemas.openxmlformats.org/drawingml/2006/table">
            <a:tbl>
              <a:tblPr>
                <a:tableStyleId>{2D5ABB26-0587-4C30-8999-92F81FD0307C}</a:tableStyleId>
              </a:tblPr>
              <a:tblGrid>
                <a:gridCol w="365760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8595360">
                  <a:extLst>
                    <a:ext uri="{9D8B030D-6E8A-4147-A177-3AD203B41FA5}">
                      <a16:colId xmlns:a16="http://schemas.microsoft.com/office/drawing/2014/main" val="20002"/>
                    </a:ext>
                  </a:extLst>
                </a:gridCol>
              </a:tblGrid>
              <a:tr h="530352">
                <a:tc>
                  <a:txBody>
                    <a:bodyPr/>
                    <a:lstStyle/>
                    <a:p>
                      <a:pPr algn="l">
                        <a:spcAft>
                          <a:spcPts val="0"/>
                        </a:spcAft>
                      </a:pPr>
                      <a:r>
                        <a:rPr sz="1800" b="1" i="0" dirty="0">
                          <a:solidFill>
                            <a:srgbClr val="FFFFFF"/>
                          </a:solidFill>
                          <a:latin typeface="Corben"/>
                          <a:ea typeface="Corben"/>
                          <a:cs typeface="Corben"/>
                        </a:rPr>
                        <a:t>Subsystem Module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1800" b="1" i="0">
                          <a:solidFill>
                            <a:srgbClr val="FFFFFF"/>
                          </a:solidFill>
                          <a:latin typeface="Corben"/>
                          <a:ea typeface="Corben"/>
                          <a:cs typeface="Corben"/>
                        </a:rPr>
                        <a:t>Source File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1800" b="1" i="0">
                          <a:solidFill>
                            <a:srgbClr val="FFFFFF"/>
                          </a:solidFill>
                          <a:latin typeface="Corben"/>
                          <a:ea typeface="Corben"/>
                          <a:cs typeface="Corben"/>
                        </a:rPr>
                        <a:t>Responsibilities &amp; Completed Features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extLst>
                  <a:ext uri="{0D108BD9-81ED-4DB2-BD59-A6C34878D82A}">
                    <a16:rowId xmlns:a16="http://schemas.microsoft.com/office/drawing/2014/main" val="10000"/>
                  </a:ext>
                </a:extLst>
              </a:tr>
              <a:tr h="603504">
                <a:tc>
                  <a:txBody>
                    <a:bodyPr/>
                    <a:lstStyle/>
                    <a:p>
                      <a:pPr algn="l">
                        <a:spcAft>
                          <a:spcPts val="0"/>
                        </a:spcAft>
                      </a:pPr>
                      <a:r>
                        <a:rPr sz="1800" b="0" i="0" dirty="0">
                          <a:solidFill>
                            <a:srgbClr val="1B2B3A"/>
                          </a:solidFill>
                          <a:latin typeface="Corben"/>
                          <a:ea typeface="Corben"/>
                          <a:cs typeface="Corben"/>
                        </a:rPr>
                        <a:t>Event Ingestion Core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a:solidFill>
                            <a:srgbClr val="1B2B3A"/>
                          </a:solidFill>
                          <a:latin typeface="Consolas"/>
                          <a:ea typeface="Consolas"/>
                          <a:cs typeface="Consolas"/>
                        </a:rPr>
                        <a:t>backend/app/core/event_processor.py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a:solidFill>
                            <a:srgbClr val="1B2B3A"/>
                          </a:solidFill>
                          <a:latin typeface="Corben"/>
                          <a:ea typeface="Corben"/>
                          <a:cs typeface="Corben"/>
                        </a:rPr>
                        <a:t>Validates payloads, stores immutable event history, routes events to the feature engine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1"/>
                  </a:ext>
                </a:extLst>
              </a:tr>
              <a:tr h="603504">
                <a:tc>
                  <a:txBody>
                    <a:bodyPr/>
                    <a:lstStyle/>
                    <a:p>
                      <a:pPr algn="l">
                        <a:spcAft>
                          <a:spcPts val="0"/>
                        </a:spcAft>
                      </a:pPr>
                      <a:r>
                        <a:rPr sz="1800" b="0" i="0" dirty="0">
                          <a:solidFill>
                            <a:srgbClr val="1B2B3A"/>
                          </a:solidFill>
                          <a:latin typeface="Corben"/>
                          <a:ea typeface="Corben"/>
                          <a:cs typeface="Corben"/>
                        </a:rPr>
                        <a:t>Feature Extraction Engine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a:solidFill>
                            <a:srgbClr val="1B2B3A"/>
                          </a:solidFill>
                          <a:latin typeface="Consolas"/>
                          <a:ea typeface="Consolas"/>
                          <a:cs typeface="Consolas"/>
                        </a:rPr>
                        <a:t>backend/app/core/feature_engine.py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a:solidFill>
                            <a:srgbClr val="1B2B3A"/>
                          </a:solidFill>
                          <a:latin typeface="Corben"/>
                          <a:ea typeface="Corben"/>
                          <a:cs typeface="Corben"/>
                        </a:rPr>
                        <a:t>Rolling 30-day attendance %, CIA averages and disciplinary point balance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2"/>
                  </a:ext>
                </a:extLst>
              </a:tr>
              <a:tr h="603504">
                <a:tc>
                  <a:txBody>
                    <a:bodyPr/>
                    <a:lstStyle/>
                    <a:p>
                      <a:pPr algn="l">
                        <a:spcAft>
                          <a:spcPts val="0"/>
                        </a:spcAft>
                      </a:pPr>
                      <a:r>
                        <a:rPr sz="1800" b="0" i="0" dirty="0">
                          <a:solidFill>
                            <a:srgbClr val="1B2B3A"/>
                          </a:solidFill>
                          <a:latin typeface="Corben"/>
                          <a:ea typeface="Corben"/>
                          <a:cs typeface="Corben"/>
                        </a:rPr>
                        <a:t>Risk Scoring &amp; Attribution</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a:solidFill>
                            <a:srgbClr val="1B2B3A"/>
                          </a:solidFill>
                          <a:latin typeface="Consolas"/>
                          <a:ea typeface="Consolas"/>
                          <a:cs typeface="Consolas"/>
                        </a:rPr>
                        <a:t>backend/app/core/risk_engine.py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a:solidFill>
                            <a:srgbClr val="1B2B3A"/>
                          </a:solidFill>
                          <a:latin typeface="Corben"/>
                          <a:ea typeface="Corben"/>
                          <a:cs typeface="Corben"/>
                        </a:rPr>
                        <a:t>Computes composite health score, factor attribution delta and risk band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3"/>
                  </a:ext>
                </a:extLst>
              </a:tr>
              <a:tr h="603504">
                <a:tc>
                  <a:txBody>
                    <a:bodyPr/>
                    <a:lstStyle/>
                    <a:p>
                      <a:pPr algn="l">
                        <a:spcAft>
                          <a:spcPts val="0"/>
                        </a:spcAft>
                      </a:pPr>
                      <a:r>
                        <a:rPr sz="1800" b="0" i="0" dirty="0">
                          <a:solidFill>
                            <a:srgbClr val="1B2B3A"/>
                          </a:solidFill>
                          <a:latin typeface="Corben"/>
                          <a:ea typeface="Corben"/>
                          <a:cs typeface="Corben"/>
                        </a:rPr>
                        <a:t>Digital Twin Engine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a:solidFill>
                            <a:srgbClr val="1B2B3A"/>
                          </a:solidFill>
                          <a:latin typeface="Consolas"/>
                          <a:ea typeface="Consolas"/>
                          <a:cs typeface="Consolas"/>
                        </a:rPr>
                        <a:t>backend/app/core/twin_engine.py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a:solidFill>
                            <a:srgbClr val="1B2B3A"/>
                          </a:solidFill>
                          <a:latin typeface="Corben"/>
                          <a:ea typeface="Corben"/>
                          <a:cs typeface="Corben"/>
                        </a:rPr>
                        <a:t>Twin state transitions, history, and immutable TwinSnapshot on each transition</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4"/>
                  </a:ext>
                </a:extLst>
              </a:tr>
              <a:tr h="603504">
                <a:tc>
                  <a:txBody>
                    <a:bodyPr/>
                    <a:lstStyle/>
                    <a:p>
                      <a:pPr algn="l">
                        <a:spcAft>
                          <a:spcPts val="0"/>
                        </a:spcAft>
                      </a:pPr>
                      <a:r>
                        <a:rPr sz="1800" b="0" i="0" dirty="0">
                          <a:solidFill>
                            <a:srgbClr val="1B2B3A"/>
                          </a:solidFill>
                          <a:latin typeface="Corben"/>
                          <a:ea typeface="Corben"/>
                          <a:cs typeface="Corben"/>
                        </a:rPr>
                        <a:t>Proactive Alert Engine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dirty="0">
                          <a:solidFill>
                            <a:srgbClr val="1B2B3A"/>
                          </a:solidFill>
                          <a:latin typeface="Consolas"/>
                          <a:ea typeface="Consolas"/>
                          <a:cs typeface="Consolas"/>
                        </a:rPr>
                        <a:t>backend/app/core/alert_engine.py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a:solidFill>
                            <a:srgbClr val="1B2B3A"/>
                          </a:solidFill>
                          <a:latin typeface="Corben"/>
                          <a:ea typeface="Corben"/>
                          <a:cs typeface="Corben"/>
                        </a:rPr>
                        <a:t>Priority-scoped alerts to mentors and parents on critical down-transitions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5"/>
                  </a:ext>
                </a:extLst>
              </a:tr>
              <a:tr h="603504">
                <a:tc>
                  <a:txBody>
                    <a:bodyPr/>
                    <a:lstStyle/>
                    <a:p>
                      <a:pPr algn="l">
                        <a:spcAft>
                          <a:spcPts val="0"/>
                        </a:spcAft>
                      </a:pPr>
                      <a:r>
                        <a:rPr sz="1800" b="0" i="0">
                          <a:solidFill>
                            <a:srgbClr val="1B2B3A"/>
                          </a:solidFill>
                          <a:latin typeface="Corben"/>
                          <a:ea typeface="Corben"/>
                          <a:cs typeface="Corben"/>
                        </a:rPr>
                        <a:t>What-If Simulation Sandbox</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dirty="0">
                          <a:solidFill>
                            <a:srgbClr val="1B2B3A"/>
                          </a:solidFill>
                          <a:latin typeface="Consolas"/>
                          <a:ea typeface="Consolas"/>
                          <a:cs typeface="Consolas"/>
                        </a:rPr>
                        <a:t>backend/app/routers/twins.py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a:solidFill>
                            <a:srgbClr val="1B2B3A"/>
                          </a:solidFill>
                          <a:latin typeface="Corben"/>
                          <a:ea typeface="Corben"/>
                          <a:cs typeface="Corben"/>
                        </a:rPr>
                        <a:t>Clones the twin in memory, applies attendance / mark gains, projects the new state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6"/>
                  </a:ext>
                </a:extLst>
              </a:tr>
              <a:tr h="603504">
                <a:tc>
                  <a:txBody>
                    <a:bodyPr/>
                    <a:lstStyle/>
                    <a:p>
                      <a:pPr algn="l">
                        <a:spcAft>
                          <a:spcPts val="0"/>
                        </a:spcAft>
                      </a:pPr>
                      <a:r>
                        <a:rPr sz="1800" b="0" i="0">
                          <a:solidFill>
                            <a:srgbClr val="1B2B3A"/>
                          </a:solidFill>
                          <a:latin typeface="Corben"/>
                          <a:ea typeface="Corben"/>
                          <a:cs typeface="Corben"/>
                        </a:rPr>
                        <a:t>Desktop Web Client</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dirty="0">
                          <a:solidFill>
                            <a:srgbClr val="1B2B3A"/>
                          </a:solidFill>
                          <a:latin typeface="Consolas"/>
                          <a:ea typeface="Consolas"/>
                          <a:cs typeface="Consolas"/>
                        </a:rPr>
                        <a:t>client-app/</a:t>
                      </a:r>
                      <a:r>
                        <a:rPr sz="1800" b="0" i="0" dirty="0" err="1">
                          <a:solidFill>
                            <a:srgbClr val="1B2B3A"/>
                          </a:solidFill>
                          <a:latin typeface="Consolas"/>
                          <a:ea typeface="Consolas"/>
                          <a:cs typeface="Consolas"/>
                        </a:rPr>
                        <a:t>src</a:t>
                      </a:r>
                      <a:r>
                        <a:rPr sz="1800" b="0" i="0" dirty="0">
                          <a:solidFill>
                            <a:srgbClr val="1B2B3A"/>
                          </a:solidFill>
                          <a:latin typeface="Consolas"/>
                          <a:ea typeface="Consolas"/>
                          <a:cs typeface="Consolas"/>
                        </a:rPr>
                        <a:t>/</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1800" b="0" i="0">
                          <a:solidFill>
                            <a:srgbClr val="1B2B3A"/>
                          </a:solidFill>
                          <a:latin typeface="Corben"/>
                          <a:ea typeface="Corben"/>
                          <a:cs typeface="Corben"/>
                        </a:rPr>
                        <a:t>React 18 + Vite dashboards: Teacher Risk Hub, Student Telemetry, Admin audit</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7"/>
                  </a:ext>
                </a:extLst>
              </a:tr>
              <a:tr h="603504">
                <a:tc>
                  <a:txBody>
                    <a:bodyPr/>
                    <a:lstStyle/>
                    <a:p>
                      <a:pPr algn="l">
                        <a:spcAft>
                          <a:spcPts val="0"/>
                        </a:spcAft>
                      </a:pPr>
                      <a:r>
                        <a:rPr sz="1800" b="0" i="0">
                          <a:solidFill>
                            <a:srgbClr val="1B2B3A"/>
                          </a:solidFill>
                          <a:latin typeface="Corben"/>
                          <a:ea typeface="Corben"/>
                          <a:cs typeface="Corben"/>
                        </a:rPr>
                        <a:t>Mobile Client &amp; LLM Insights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dirty="0">
                          <a:solidFill>
                            <a:srgbClr val="1B2B3A"/>
                          </a:solidFill>
                          <a:latin typeface="Consolas"/>
                          <a:ea typeface="Consolas"/>
                          <a:cs typeface="Consolas"/>
                        </a:rPr>
                        <a:t>client-app/</a:t>
                      </a:r>
                      <a:r>
                        <a:rPr sz="1800" b="0" i="0" dirty="0" err="1">
                          <a:solidFill>
                            <a:srgbClr val="1B2B3A"/>
                          </a:solidFill>
                          <a:latin typeface="Consolas"/>
                          <a:ea typeface="Consolas"/>
                          <a:cs typeface="Consolas"/>
                        </a:rPr>
                        <a:t>src</a:t>
                      </a:r>
                      <a:r>
                        <a:rPr sz="1800" b="0" i="0" dirty="0">
                          <a:solidFill>
                            <a:srgbClr val="1B2B3A"/>
                          </a:solidFill>
                          <a:latin typeface="Consolas"/>
                          <a:ea typeface="Consolas"/>
                          <a:cs typeface="Consolas"/>
                        </a:rPr>
                        <a:t>/mobile/, </a:t>
                      </a:r>
                      <a:r>
                        <a:rPr sz="1800" b="0" i="0" dirty="0" err="1">
                          <a:solidFill>
                            <a:srgbClr val="1B2B3A"/>
                          </a:solidFill>
                          <a:latin typeface="Consolas"/>
                          <a:ea typeface="Consolas"/>
                          <a:cs typeface="Consolas"/>
                        </a:rPr>
                        <a:t>gemini</a:t>
                      </a:r>
                      <a:r>
                        <a:rPr sz="1800" b="0" i="0" dirty="0">
                          <a:solidFill>
                            <a:srgbClr val="1B2B3A"/>
                          </a:solidFill>
                          <a:latin typeface="Consolas"/>
                          <a:ea typeface="Consolas"/>
                          <a:cs typeface="Consolas"/>
                        </a:rPr>
                        <a:t>-analytics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1800" b="0" i="0" dirty="0">
                          <a:solidFill>
                            <a:srgbClr val="1B2B3A"/>
                          </a:solidFill>
                          <a:latin typeface="Corben"/>
                          <a:ea typeface="Corben"/>
                          <a:cs typeface="Corben"/>
                        </a:rPr>
                        <a:t>Mobile cards, attendance-streak gamification, plain-language AI briefings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8"/>
                  </a:ext>
                </a:extLst>
              </a:tr>
            </a:tbl>
          </a:graphicData>
        </a:graphic>
      </p:graphicFrame>
      <p:sp>
        <p:nvSpPr>
          <p:cNvPr id="4" name="TextBox 3"/>
          <p:cNvSpPr txBox="1"/>
          <p:nvPr/>
        </p:nvSpPr>
        <p:spPr>
          <a:xfrm>
            <a:off x="548640" y="6995160"/>
            <a:ext cx="7315200" cy="502920"/>
          </a:xfrm>
          <a:prstGeom prst="rect">
            <a:avLst/>
          </a:prstGeom>
          <a:noFill/>
        </p:spPr>
        <p:txBody>
          <a:bodyPr wrap="square" lIns="0" tIns="0" rIns="0" bIns="0" anchor="t">
            <a:spAutoFit/>
          </a:bodyPr>
          <a:lstStyle/>
          <a:p>
            <a:pPr algn="l">
              <a:spcAft>
                <a:spcPts val="600"/>
              </a:spcAft>
            </a:pPr>
            <a:r>
              <a:rPr sz="2400" b="0" i="0" u="sng">
                <a:solidFill>
                  <a:srgbClr val="FF6D4D"/>
                </a:solidFill>
                <a:latin typeface="Corben"/>
                <a:ea typeface="Corben"/>
                <a:cs typeface="Corben"/>
              </a:rPr>
              <a:t>Engineering Stack</a:t>
            </a:r>
          </a:p>
        </p:txBody>
      </p:sp>
      <p:sp>
        <p:nvSpPr>
          <p:cNvPr id="5" name="Rounded Rectangle 4"/>
          <p:cNvSpPr/>
          <p:nvPr/>
        </p:nvSpPr>
        <p:spPr>
          <a:xfrm>
            <a:off x="548640" y="7589520"/>
            <a:ext cx="5577840" cy="210312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74320" bIns="201168" rtlCol="0" anchor="t"/>
          <a:lstStyle/>
          <a:p>
            <a:pPr algn="l">
              <a:spcAft>
                <a:spcPts val="500"/>
              </a:spcAft>
            </a:pPr>
            <a:r>
              <a:rPr sz="2000" b="1" i="0" dirty="0">
                <a:solidFill>
                  <a:srgbClr val="FF6D4D"/>
                </a:solidFill>
                <a:latin typeface="Corben"/>
                <a:ea typeface="Corben"/>
                <a:cs typeface="Corben"/>
              </a:rPr>
              <a:t>Backend</a:t>
            </a:r>
          </a:p>
          <a:p>
            <a:pPr algn="l">
              <a:spcAft>
                <a:spcPts val="0"/>
              </a:spcAft>
            </a:pPr>
            <a:r>
              <a:rPr sz="2000" b="0" i="0" dirty="0">
                <a:solidFill>
                  <a:srgbClr val="1B2B3A"/>
                </a:solidFill>
                <a:latin typeface="Corben"/>
                <a:ea typeface="Corben"/>
                <a:cs typeface="Corben"/>
              </a:rPr>
              <a:t>Python 3.13, </a:t>
            </a:r>
            <a:r>
              <a:rPr sz="2000" b="0" i="0" dirty="0" err="1">
                <a:solidFill>
                  <a:srgbClr val="1B2B3A"/>
                </a:solidFill>
                <a:latin typeface="Corben"/>
                <a:ea typeface="Corben"/>
                <a:cs typeface="Corben"/>
              </a:rPr>
              <a:t>FastAPI</a:t>
            </a:r>
            <a:r>
              <a:rPr sz="2000" b="0" i="0" dirty="0">
                <a:solidFill>
                  <a:srgbClr val="1B2B3A"/>
                </a:solidFill>
                <a:latin typeface="Corben"/>
                <a:ea typeface="Corben"/>
                <a:cs typeface="Corben"/>
              </a:rPr>
              <a:t>, </a:t>
            </a:r>
            <a:r>
              <a:rPr sz="2000" b="0" i="0" dirty="0" err="1">
                <a:solidFill>
                  <a:srgbClr val="1B2B3A"/>
                </a:solidFill>
                <a:latin typeface="Corben"/>
                <a:ea typeface="Corben"/>
                <a:cs typeface="Corben"/>
              </a:rPr>
              <a:t>SQLAlchemy</a:t>
            </a:r>
            <a:r>
              <a:rPr sz="2000" b="0" i="0" dirty="0">
                <a:solidFill>
                  <a:srgbClr val="1B2B3A"/>
                </a:solidFill>
                <a:latin typeface="Corben"/>
                <a:ea typeface="Corben"/>
                <a:cs typeface="Corben"/>
              </a:rPr>
              <a:t> 2.0 ORM, SQLite 3.45 / PostgreSQL</a:t>
            </a:r>
          </a:p>
        </p:txBody>
      </p:sp>
      <p:sp>
        <p:nvSpPr>
          <p:cNvPr id="6" name="Rounded Rectangle 5"/>
          <p:cNvSpPr/>
          <p:nvPr/>
        </p:nvSpPr>
        <p:spPr>
          <a:xfrm>
            <a:off x="6309359" y="7589520"/>
            <a:ext cx="5577840" cy="210312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74320" bIns="201168" rtlCol="0" anchor="t"/>
          <a:lstStyle/>
          <a:p>
            <a:pPr algn="l">
              <a:spcAft>
                <a:spcPts val="500"/>
              </a:spcAft>
            </a:pPr>
            <a:r>
              <a:rPr sz="2000" b="1" i="0" dirty="0">
                <a:solidFill>
                  <a:srgbClr val="FF6D4D"/>
                </a:solidFill>
                <a:latin typeface="Corben"/>
                <a:ea typeface="Corben"/>
                <a:cs typeface="Corben"/>
              </a:rPr>
              <a:t>Frontend</a:t>
            </a:r>
          </a:p>
          <a:p>
            <a:pPr algn="l">
              <a:spcAft>
                <a:spcPts val="0"/>
              </a:spcAft>
            </a:pPr>
            <a:r>
              <a:rPr sz="2000" b="0" i="0" dirty="0">
                <a:solidFill>
                  <a:srgbClr val="1B2B3A"/>
                </a:solidFill>
                <a:latin typeface="Corben"/>
                <a:ea typeface="Corben"/>
                <a:cs typeface="Corben"/>
              </a:rPr>
              <a:t>React 18, Vite, React Router 6, Axios, </a:t>
            </a:r>
            <a:r>
              <a:rPr sz="2000" b="0" i="0" dirty="0" err="1">
                <a:solidFill>
                  <a:srgbClr val="1B2B3A"/>
                </a:solidFill>
                <a:latin typeface="Corben"/>
                <a:ea typeface="Corben"/>
                <a:cs typeface="Corben"/>
              </a:rPr>
              <a:t>Lucide</a:t>
            </a:r>
            <a:r>
              <a:rPr sz="2000" b="0" i="0" dirty="0">
                <a:solidFill>
                  <a:srgbClr val="1B2B3A"/>
                </a:solidFill>
                <a:latin typeface="Corben"/>
                <a:ea typeface="Corben"/>
                <a:cs typeface="Corben"/>
              </a:rPr>
              <a:t> Icons, pure CSS design system</a:t>
            </a:r>
          </a:p>
        </p:txBody>
      </p:sp>
      <p:sp>
        <p:nvSpPr>
          <p:cNvPr id="7" name="Rounded Rectangle 6"/>
          <p:cNvSpPr/>
          <p:nvPr/>
        </p:nvSpPr>
        <p:spPr>
          <a:xfrm>
            <a:off x="12070080" y="7589520"/>
            <a:ext cx="5577840" cy="210312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74320" bIns="201168" rtlCol="0" anchor="t"/>
          <a:lstStyle/>
          <a:p>
            <a:pPr algn="l">
              <a:spcAft>
                <a:spcPts val="500"/>
              </a:spcAft>
            </a:pPr>
            <a:r>
              <a:rPr sz="2000" b="1" i="0" dirty="0">
                <a:solidFill>
                  <a:srgbClr val="FF6D4D"/>
                </a:solidFill>
                <a:latin typeface="Corben"/>
                <a:ea typeface="Corben"/>
                <a:cs typeface="Corben"/>
              </a:rPr>
              <a:t>Testing &amp; Benchmarking</a:t>
            </a:r>
          </a:p>
          <a:p>
            <a:pPr algn="l">
              <a:spcAft>
                <a:spcPts val="0"/>
              </a:spcAft>
            </a:pPr>
            <a:r>
              <a:rPr sz="2000" b="0" i="0" dirty="0" err="1">
                <a:solidFill>
                  <a:srgbClr val="1B2B3A"/>
                </a:solidFill>
                <a:latin typeface="Corben"/>
                <a:ea typeface="Corben"/>
                <a:cs typeface="Corben"/>
              </a:rPr>
              <a:t>pytest</a:t>
            </a:r>
            <a:r>
              <a:rPr sz="2000" b="0" i="0" dirty="0">
                <a:solidFill>
                  <a:srgbClr val="1B2B3A"/>
                </a:solidFill>
                <a:latin typeface="Corben"/>
                <a:ea typeface="Corben"/>
                <a:cs typeface="Corben"/>
              </a:rPr>
              <a:t>, Python </a:t>
            </a:r>
            <a:r>
              <a:rPr sz="2000" b="0" i="0" dirty="0" err="1">
                <a:solidFill>
                  <a:srgbClr val="1B2B3A"/>
                </a:solidFill>
                <a:latin typeface="Corben"/>
                <a:ea typeface="Corben"/>
                <a:cs typeface="Corben"/>
              </a:rPr>
              <a:t>time.perf_counter</a:t>
            </a:r>
            <a:r>
              <a:rPr sz="2000" b="0" i="0" dirty="0">
                <a:solidFill>
                  <a:srgbClr val="1B2B3A"/>
                </a:solidFill>
                <a:latin typeface="Corben"/>
                <a:ea typeface="Corben"/>
                <a:cs typeface="Corben"/>
              </a:rPr>
              <a:t>() benchmark harness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Working Demonstration &amp; Output Results</a:t>
            </a:r>
          </a:p>
        </p:txBody>
      </p:sp>
      <p:sp>
        <p:nvSpPr>
          <p:cNvPr id="3" name="TextBox 2"/>
          <p:cNvSpPr txBox="1"/>
          <p:nvPr/>
        </p:nvSpPr>
        <p:spPr>
          <a:xfrm>
            <a:off x="548640" y="1280160"/>
            <a:ext cx="8229600" cy="502920"/>
          </a:xfrm>
          <a:prstGeom prst="rect">
            <a:avLst/>
          </a:prstGeom>
          <a:noFill/>
        </p:spPr>
        <p:txBody>
          <a:bodyPr wrap="square" lIns="0" tIns="0" rIns="0" bIns="0" anchor="t">
            <a:spAutoFit/>
          </a:bodyPr>
          <a:lstStyle/>
          <a:p>
            <a:pPr algn="l">
              <a:spcAft>
                <a:spcPts val="600"/>
              </a:spcAft>
            </a:pPr>
            <a:r>
              <a:rPr sz="2400" b="0" i="0" u="sng">
                <a:solidFill>
                  <a:srgbClr val="FF6D4D"/>
                </a:solidFill>
                <a:latin typeface="Corben"/>
                <a:ea typeface="Corben"/>
                <a:cs typeface="Corben"/>
              </a:rPr>
              <a:t>End-to-End Workflow (student S002)</a:t>
            </a:r>
          </a:p>
        </p:txBody>
      </p:sp>
      <p:sp>
        <p:nvSpPr>
          <p:cNvPr id="4" name="Rounded Rectangle 3"/>
          <p:cNvSpPr/>
          <p:nvPr/>
        </p:nvSpPr>
        <p:spPr>
          <a:xfrm>
            <a:off x="548640" y="1874519"/>
            <a:ext cx="8229600" cy="178308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51560" tIns="91440" rIns="1051560" bIns="91440" rtlCol="0" anchor="ctr"/>
          <a:lstStyle/>
          <a:p>
            <a:pPr algn="l">
              <a:spcAft>
                <a:spcPts val="300"/>
              </a:spcAft>
            </a:pPr>
            <a:r>
              <a:rPr sz="2100" b="1" i="0">
                <a:solidFill>
                  <a:srgbClr val="1B2B3A"/>
                </a:solidFill>
                <a:latin typeface="Corben"/>
                <a:ea typeface="Corben"/>
                <a:cs typeface="Corben"/>
              </a:rPr>
              <a:t>Event trigger</a:t>
            </a:r>
          </a:p>
          <a:p>
            <a:pPr algn="l">
              <a:spcAft>
                <a:spcPts val="0"/>
              </a:spcAft>
            </a:pPr>
            <a:r>
              <a:rPr sz="1700" b="0" i="0">
                <a:solidFill>
                  <a:srgbClr val="404155"/>
                </a:solidFill>
                <a:latin typeface="Corben"/>
                <a:ea typeface="Corben"/>
                <a:cs typeface="Corben"/>
              </a:rPr>
              <a:t>Faculty logs a first-hour morning absence for S002, a chronic-absenteeism profile.</a:t>
            </a:r>
          </a:p>
        </p:txBody>
      </p:sp>
      <p:sp>
        <p:nvSpPr>
          <p:cNvPr id="5" name="Oval 4"/>
          <p:cNvSpPr/>
          <p:nvPr/>
        </p:nvSpPr>
        <p:spPr>
          <a:xfrm>
            <a:off x="731520" y="2423160"/>
            <a:ext cx="685800" cy="68580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1</a:t>
            </a:r>
          </a:p>
        </p:txBody>
      </p:sp>
      <p:sp>
        <p:nvSpPr>
          <p:cNvPr id="6" name="Rounded Rectangle 5"/>
          <p:cNvSpPr/>
          <p:nvPr/>
        </p:nvSpPr>
        <p:spPr>
          <a:xfrm>
            <a:off x="548640" y="3840479"/>
            <a:ext cx="8229600" cy="178308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51560" tIns="91440" rIns="1051560" bIns="91440" rtlCol="0" anchor="ctr"/>
          <a:lstStyle/>
          <a:p>
            <a:pPr algn="l">
              <a:spcAft>
                <a:spcPts val="300"/>
              </a:spcAft>
            </a:pPr>
            <a:r>
              <a:rPr sz="2100" b="1" i="0">
                <a:solidFill>
                  <a:srgbClr val="1B2B3A"/>
                </a:solidFill>
                <a:latin typeface="Corben"/>
                <a:ea typeface="Corben"/>
                <a:cs typeface="Corben"/>
              </a:rPr>
              <a:t>Telemetry update</a:t>
            </a:r>
          </a:p>
          <a:p>
            <a:pPr algn="l">
              <a:spcAft>
                <a:spcPts val="0"/>
              </a:spcAft>
            </a:pPr>
            <a:r>
              <a:rPr sz="1700" b="0" i="0">
                <a:solidFill>
                  <a:srgbClr val="404155"/>
                </a:solidFill>
                <a:latin typeface="Corben"/>
                <a:ea typeface="Corben"/>
                <a:cs typeface="Corben"/>
              </a:rPr>
              <a:t>Attendance 60% → 58%. H = 44.8 (Academic 22.5, Attendance 14.4, Behavior 7.9). Risk 55.2.</a:t>
            </a:r>
          </a:p>
        </p:txBody>
      </p:sp>
      <p:sp>
        <p:nvSpPr>
          <p:cNvPr id="7" name="Oval 6"/>
          <p:cNvSpPr/>
          <p:nvPr/>
        </p:nvSpPr>
        <p:spPr>
          <a:xfrm>
            <a:off x="731520" y="4389119"/>
            <a:ext cx="685800" cy="68580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2</a:t>
            </a:r>
          </a:p>
        </p:txBody>
      </p:sp>
      <p:sp>
        <p:nvSpPr>
          <p:cNvPr id="8" name="Rounded Rectangle 7"/>
          <p:cNvSpPr/>
          <p:nvPr/>
        </p:nvSpPr>
        <p:spPr>
          <a:xfrm>
            <a:off x="548640" y="5806440"/>
            <a:ext cx="8229600" cy="178308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51560" tIns="91440" rIns="1051560" bIns="91440" rtlCol="0" anchor="ctr"/>
          <a:lstStyle/>
          <a:p>
            <a:pPr algn="l">
              <a:spcAft>
                <a:spcPts val="300"/>
              </a:spcAft>
            </a:pPr>
            <a:r>
              <a:rPr sz="2100" b="1" i="0">
                <a:solidFill>
                  <a:srgbClr val="1B2B3A"/>
                </a:solidFill>
                <a:latin typeface="Corben"/>
                <a:ea typeface="Corben"/>
                <a:cs typeface="Corben"/>
              </a:rPr>
              <a:t>Twin state transition</a:t>
            </a:r>
          </a:p>
          <a:p>
            <a:pPr algn="l">
              <a:spcAft>
                <a:spcPts val="0"/>
              </a:spcAft>
            </a:pPr>
            <a:r>
              <a:rPr sz="1700" b="0" i="0">
                <a:solidFill>
                  <a:srgbClr val="404155"/>
                </a:solidFill>
                <a:latin typeface="Corben"/>
                <a:ea typeface="Corben"/>
                <a:cs typeface="Corben"/>
              </a:rPr>
              <a:t>Warning → Critical. Immutable TwinSnapshot saved; mentor alert dispatched.</a:t>
            </a:r>
          </a:p>
        </p:txBody>
      </p:sp>
      <p:sp>
        <p:nvSpPr>
          <p:cNvPr id="9" name="Oval 8"/>
          <p:cNvSpPr/>
          <p:nvPr/>
        </p:nvSpPr>
        <p:spPr>
          <a:xfrm>
            <a:off x="731520" y="6355079"/>
            <a:ext cx="685800" cy="68580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3</a:t>
            </a:r>
          </a:p>
        </p:txBody>
      </p:sp>
      <p:sp>
        <p:nvSpPr>
          <p:cNvPr id="10" name="Rounded Rectangle 9"/>
          <p:cNvSpPr/>
          <p:nvPr/>
        </p:nvSpPr>
        <p:spPr>
          <a:xfrm>
            <a:off x="548640" y="7772400"/>
            <a:ext cx="8229600" cy="178308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51560" tIns="91440" rIns="1051560" bIns="91440" rtlCol="0" anchor="ctr"/>
          <a:lstStyle/>
          <a:p>
            <a:pPr algn="l">
              <a:spcAft>
                <a:spcPts val="300"/>
              </a:spcAft>
            </a:pPr>
            <a:r>
              <a:rPr sz="2100" b="1" i="0">
                <a:solidFill>
                  <a:srgbClr val="1B2B3A"/>
                </a:solidFill>
                <a:latin typeface="Corben"/>
                <a:ea typeface="Corben"/>
                <a:cs typeface="Corben"/>
              </a:rPr>
              <a:t>What-If counseling</a:t>
            </a:r>
          </a:p>
          <a:p>
            <a:pPr algn="l">
              <a:spcAft>
                <a:spcPts val="0"/>
              </a:spcAft>
            </a:pPr>
            <a:r>
              <a:rPr sz="1700" b="0" i="0">
                <a:solidFill>
                  <a:srgbClr val="404155"/>
                </a:solidFill>
                <a:latin typeface="Corben"/>
                <a:ea typeface="Corben"/>
                <a:cs typeface="Corben"/>
              </a:rPr>
              <a:t>+15% attendance and +10 CIA-2 marks project H = 54.6, so the twin returns to Warning.</a:t>
            </a:r>
          </a:p>
        </p:txBody>
      </p:sp>
      <p:sp>
        <p:nvSpPr>
          <p:cNvPr id="11" name="Oval 10"/>
          <p:cNvSpPr/>
          <p:nvPr/>
        </p:nvSpPr>
        <p:spPr>
          <a:xfrm>
            <a:off x="731520" y="8321040"/>
            <a:ext cx="685800" cy="68580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4</a:t>
            </a:r>
          </a:p>
        </p:txBody>
      </p:sp>
      <p:sp>
        <p:nvSpPr>
          <p:cNvPr id="12" name="TextBox 11"/>
          <p:cNvSpPr txBox="1"/>
          <p:nvPr/>
        </p:nvSpPr>
        <p:spPr>
          <a:xfrm>
            <a:off x="9326880" y="1280160"/>
            <a:ext cx="8229600" cy="502920"/>
          </a:xfrm>
          <a:prstGeom prst="rect">
            <a:avLst/>
          </a:prstGeom>
          <a:noFill/>
        </p:spPr>
        <p:txBody>
          <a:bodyPr wrap="square" lIns="0" tIns="0" rIns="0" bIns="0" anchor="t">
            <a:spAutoFit/>
          </a:bodyPr>
          <a:lstStyle/>
          <a:p>
            <a:pPr algn="l">
              <a:spcAft>
                <a:spcPts val="600"/>
              </a:spcAft>
            </a:pPr>
            <a:r>
              <a:rPr sz="2400" b="0" i="0" u="sng">
                <a:solidFill>
                  <a:srgbClr val="FF6D4D"/>
                </a:solidFill>
                <a:latin typeface="Corben"/>
                <a:ea typeface="Corben"/>
                <a:cs typeface="Corben"/>
              </a:rPr>
              <a:t>Benchmark Results (100 cycles)</a:t>
            </a:r>
          </a:p>
        </p:txBody>
      </p:sp>
      <p:graphicFrame>
        <p:nvGraphicFramePr>
          <p:cNvPr id="13" name="Table 12"/>
          <p:cNvGraphicFramePr>
            <a:graphicFrameLocks noGrp="1"/>
          </p:cNvGraphicFramePr>
          <p:nvPr>
            <p:extLst>
              <p:ext uri="{D42A27DB-BD31-4B8C-83A1-F6EECF244321}">
                <p14:modId xmlns:p14="http://schemas.microsoft.com/office/powerpoint/2010/main" val="2250069461"/>
              </p:ext>
            </p:extLst>
          </p:nvPr>
        </p:nvGraphicFramePr>
        <p:xfrm>
          <a:off x="9326880" y="1874519"/>
          <a:ext cx="8412480" cy="4023360"/>
        </p:xfrm>
        <a:graphic>
          <a:graphicData uri="http://schemas.openxmlformats.org/drawingml/2006/table">
            <a:tbl>
              <a:tblPr>
                <a:tableStyleId>{2D5ABB26-0587-4C30-8999-92F81FD0307C}</a:tableStyleId>
              </a:tblPr>
              <a:tblGrid>
                <a:gridCol w="32004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548640">
                <a:tc>
                  <a:txBody>
                    <a:bodyPr/>
                    <a:lstStyle/>
                    <a:p>
                      <a:pPr algn="l">
                        <a:spcAft>
                          <a:spcPts val="0"/>
                        </a:spcAft>
                      </a:pPr>
                      <a:r>
                        <a:rPr sz="2000" b="1" i="0" dirty="0">
                          <a:solidFill>
                            <a:srgbClr val="FFFFFF"/>
                          </a:solidFill>
                          <a:latin typeface="Corben"/>
                          <a:ea typeface="Corben"/>
                          <a:cs typeface="Corben"/>
                        </a:rPr>
                        <a:t>Metric</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2000" b="1" i="0">
                          <a:solidFill>
                            <a:srgbClr val="FFFFFF"/>
                          </a:solidFill>
                          <a:latin typeface="Corben"/>
                          <a:ea typeface="Corben"/>
                          <a:cs typeface="Corben"/>
                        </a:rPr>
                        <a:t>Target</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2000" b="1" i="0">
                          <a:solidFill>
                            <a:srgbClr val="FFFFFF"/>
                          </a:solidFill>
                          <a:latin typeface="Corben"/>
                          <a:ea typeface="Corben"/>
                          <a:cs typeface="Corben"/>
                        </a:rPr>
                        <a:t>Observed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tc>
                  <a:txBody>
                    <a:bodyPr/>
                    <a:lstStyle/>
                    <a:p>
                      <a:pPr algn="l">
                        <a:spcAft>
                          <a:spcPts val="0"/>
                        </a:spcAft>
                      </a:pPr>
                      <a:r>
                        <a:rPr sz="2000" b="1" i="0">
                          <a:solidFill>
                            <a:srgbClr val="FFFFFF"/>
                          </a:solidFill>
                          <a:latin typeface="Corben"/>
                          <a:ea typeface="Corben"/>
                          <a:cs typeface="Corben"/>
                        </a:rPr>
                        <a:t>Status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4967E9"/>
                    </a:solidFill>
                  </a:tcPr>
                </a:tc>
                <a:extLst>
                  <a:ext uri="{0D108BD9-81ED-4DB2-BD59-A6C34878D82A}">
                    <a16:rowId xmlns:a16="http://schemas.microsoft.com/office/drawing/2014/main" val="10000"/>
                  </a:ext>
                </a:extLst>
              </a:tr>
              <a:tr h="685800">
                <a:tc>
                  <a:txBody>
                    <a:bodyPr/>
                    <a:lstStyle/>
                    <a:p>
                      <a:pPr algn="l">
                        <a:spcAft>
                          <a:spcPts val="0"/>
                        </a:spcAft>
                      </a:pPr>
                      <a:r>
                        <a:rPr sz="2000" b="0" i="0" dirty="0">
                          <a:solidFill>
                            <a:srgbClr val="1B2B3A"/>
                          </a:solidFill>
                          <a:latin typeface="Corben"/>
                          <a:ea typeface="Corben"/>
                          <a:cs typeface="Corben"/>
                        </a:rPr>
                        <a:t>Ingestion latency</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&lt; 50 ms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26.12 ms avg</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Passed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1"/>
                  </a:ext>
                </a:extLst>
              </a:tr>
              <a:tr h="685800">
                <a:tc>
                  <a:txBody>
                    <a:bodyPr/>
                    <a:lstStyle/>
                    <a:p>
                      <a:pPr algn="l">
                        <a:spcAft>
                          <a:spcPts val="0"/>
                        </a:spcAft>
                      </a:pPr>
                      <a:r>
                        <a:rPr sz="2000" b="0" i="0" dirty="0">
                          <a:solidFill>
                            <a:srgbClr val="1B2B3A"/>
                          </a:solidFill>
                          <a:latin typeface="Corben"/>
                          <a:ea typeface="Corben"/>
                          <a:cs typeface="Corben"/>
                        </a:rPr>
                        <a:t>Twin query (GET /twins/{id})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&lt; 10 ms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2.24 ms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Passed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2"/>
                  </a:ext>
                </a:extLst>
              </a:tr>
              <a:tr h="685800">
                <a:tc>
                  <a:txBody>
                    <a:bodyPr/>
                    <a:lstStyle/>
                    <a:p>
                      <a:pPr algn="l">
                        <a:spcAft>
                          <a:spcPts val="0"/>
                        </a:spcAft>
                      </a:pPr>
                      <a:r>
                        <a:rPr sz="2000" b="0" i="0">
                          <a:solidFill>
                            <a:srgbClr val="1B2B3A"/>
                          </a:solidFill>
                          <a:latin typeface="Corben"/>
                          <a:ea typeface="Corben"/>
                          <a:cs typeface="Corben"/>
                        </a:rPr>
                        <a:t>Sequential throughput</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dirty="0">
                          <a:solidFill>
                            <a:srgbClr val="1B2B3A"/>
                          </a:solidFill>
                          <a:latin typeface="Corben"/>
                          <a:ea typeface="Corben"/>
                          <a:cs typeface="Corben"/>
                        </a:rPr>
                        <a:t>≥ 20 events/s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38.30 events/s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Passed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3"/>
                  </a:ext>
                </a:extLst>
              </a:tr>
              <a:tr h="685800">
                <a:tc>
                  <a:txBody>
                    <a:bodyPr/>
                    <a:lstStyle/>
                    <a:p>
                      <a:pPr algn="l">
                        <a:spcAft>
                          <a:spcPts val="0"/>
                        </a:spcAft>
                      </a:pPr>
                      <a:r>
                        <a:rPr sz="2000" b="0" i="0">
                          <a:solidFill>
                            <a:srgbClr val="1B2B3A"/>
                          </a:solidFill>
                          <a:latin typeface="Corben"/>
                          <a:ea typeface="Corben"/>
                          <a:cs typeface="Corben"/>
                        </a:rPr>
                        <a:t>Redundant snapshot writes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0 allowed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dirty="0">
                          <a:solidFill>
                            <a:srgbClr val="1B2B3A"/>
                          </a:solidFill>
                          <a:latin typeface="Corben"/>
                          <a:ea typeface="Corben"/>
                          <a:cs typeface="Corben"/>
                        </a:rPr>
                        <a:t>0 writes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tc>
                  <a:txBody>
                    <a:bodyPr/>
                    <a:lstStyle/>
                    <a:p>
                      <a:pPr algn="l">
                        <a:spcAft>
                          <a:spcPts val="0"/>
                        </a:spcAft>
                      </a:pPr>
                      <a:r>
                        <a:rPr sz="2000" b="0" i="0">
                          <a:solidFill>
                            <a:srgbClr val="1B2B3A"/>
                          </a:solidFill>
                          <a:latin typeface="Corben"/>
                          <a:ea typeface="Corben"/>
                          <a:cs typeface="Corben"/>
                        </a:rPr>
                        <a:t>Passed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3F6FF"/>
                    </a:solidFill>
                  </a:tcPr>
                </a:tc>
                <a:extLst>
                  <a:ext uri="{0D108BD9-81ED-4DB2-BD59-A6C34878D82A}">
                    <a16:rowId xmlns:a16="http://schemas.microsoft.com/office/drawing/2014/main" val="10004"/>
                  </a:ext>
                </a:extLst>
              </a:tr>
              <a:tr h="685800">
                <a:tc>
                  <a:txBody>
                    <a:bodyPr/>
                    <a:lstStyle/>
                    <a:p>
                      <a:pPr algn="l">
                        <a:spcAft>
                          <a:spcPts val="0"/>
                        </a:spcAft>
                      </a:pPr>
                      <a:r>
                        <a:rPr sz="2000" b="0" i="0">
                          <a:solidFill>
                            <a:srgbClr val="1B2B3A"/>
                          </a:solidFill>
                          <a:latin typeface="Corben"/>
                          <a:ea typeface="Corben"/>
                          <a:cs typeface="Corben"/>
                        </a:rPr>
                        <a:t>What-If projection time</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a:solidFill>
                            <a:srgbClr val="1B2B3A"/>
                          </a:solidFill>
                          <a:latin typeface="Corben"/>
                          <a:ea typeface="Corben"/>
                          <a:cs typeface="Corben"/>
                        </a:rPr>
                        <a:t>&lt; 5 ms</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dirty="0">
                          <a:solidFill>
                            <a:srgbClr val="1B2B3A"/>
                          </a:solidFill>
                          <a:latin typeface="Corben"/>
                          <a:ea typeface="Corben"/>
                          <a:cs typeface="Corben"/>
                        </a:rPr>
                        <a:t>0.48 </a:t>
                      </a:r>
                      <a:r>
                        <a:rPr sz="2000" b="0" i="0" dirty="0" err="1">
                          <a:solidFill>
                            <a:srgbClr val="1B2B3A"/>
                          </a:solidFill>
                          <a:latin typeface="Corben"/>
                          <a:ea typeface="Corben"/>
                          <a:cs typeface="Corben"/>
                        </a:rPr>
                        <a:t>ms</a:t>
                      </a:r>
                      <a:endParaRPr sz="2000" b="0" i="0" dirty="0">
                        <a:solidFill>
                          <a:srgbClr val="1B2B3A"/>
                        </a:solidFill>
                        <a:latin typeface="Corben"/>
                        <a:ea typeface="Corben"/>
                        <a:cs typeface="Corben"/>
                      </a:endParaRP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tc>
                  <a:txBody>
                    <a:bodyPr/>
                    <a:lstStyle/>
                    <a:p>
                      <a:pPr algn="l">
                        <a:spcAft>
                          <a:spcPts val="0"/>
                        </a:spcAft>
                      </a:pPr>
                      <a:r>
                        <a:rPr sz="2000" b="0" i="0" dirty="0">
                          <a:solidFill>
                            <a:srgbClr val="1B2B3A"/>
                          </a:solidFill>
                          <a:latin typeface="Corben"/>
                          <a:ea typeface="Corben"/>
                          <a:cs typeface="Corben"/>
                        </a:rPr>
                        <a:t>Passed</a:t>
                      </a:r>
                    </a:p>
                  </a:txBody>
                  <a:tcPr marL="128016" marR="128016" anchor="ctr">
                    <a:lnL w="19050">
                      <a:solidFill>
                        <a:srgbClr val="4967E9"/>
                      </a:solidFill>
                    </a:lnL>
                    <a:lnR w="19050">
                      <a:solidFill>
                        <a:srgbClr val="4967E9"/>
                      </a:solidFill>
                    </a:lnR>
                    <a:lnT w="19050">
                      <a:solidFill>
                        <a:srgbClr val="4967E9"/>
                      </a:solidFill>
                    </a:lnT>
                    <a:lnB w="19050">
                      <a:solidFill>
                        <a:srgbClr val="4967E9"/>
                      </a:solidFill>
                    </a:lnB>
                    <a:solidFill>
                      <a:srgbClr val="FFFFFF"/>
                    </a:solidFill>
                  </a:tcPr>
                </a:tc>
                <a:extLst>
                  <a:ext uri="{0D108BD9-81ED-4DB2-BD59-A6C34878D82A}">
                    <a16:rowId xmlns:a16="http://schemas.microsoft.com/office/drawing/2014/main" val="10005"/>
                  </a:ext>
                </a:extLst>
              </a:tr>
            </a:tbl>
          </a:graphicData>
        </a:graphic>
      </p:graphicFrame>
      <p:sp>
        <p:nvSpPr>
          <p:cNvPr id="14" name="Rounded Rectangle 13"/>
          <p:cNvSpPr/>
          <p:nvPr/>
        </p:nvSpPr>
        <p:spPr>
          <a:xfrm>
            <a:off x="9326880" y="5989320"/>
            <a:ext cx="8412480" cy="155448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spcAft>
                <a:spcPts val="300"/>
              </a:spcAft>
            </a:pPr>
            <a:r>
              <a:rPr sz="2000" b="1" i="0">
                <a:solidFill>
                  <a:srgbClr val="FF6D4D"/>
                </a:solidFill>
                <a:latin typeface="Corben"/>
                <a:ea typeface="Corben"/>
                <a:cs typeface="Corben"/>
              </a:rPr>
              <a:t>Early detection window</a:t>
            </a:r>
          </a:p>
          <a:p>
            <a:pPr algn="l">
              <a:spcAft>
                <a:spcPts val="0"/>
              </a:spcAft>
            </a:pPr>
            <a:r>
              <a:rPr sz="1700" b="0" i="0">
                <a:solidFill>
                  <a:srgbClr val="1B2B3A"/>
                </a:solidFill>
                <a:latin typeface="Corben"/>
                <a:ea typeface="Corben"/>
                <a:cs typeface="Corben"/>
              </a:rPr>
              <a:t>Attendance slides are caught within 14 days, a 3-week counseling head start before mid-terms.</a:t>
            </a:r>
          </a:p>
        </p:txBody>
      </p:sp>
      <p:sp>
        <p:nvSpPr>
          <p:cNvPr id="15" name="Rounded Rectangle 14"/>
          <p:cNvSpPr/>
          <p:nvPr/>
        </p:nvSpPr>
        <p:spPr>
          <a:xfrm>
            <a:off x="9326880" y="7726679"/>
            <a:ext cx="8412480" cy="155448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228600" tIns="109728" rIns="228600" bIns="109728" rtlCol="0" anchor="ctr"/>
          <a:lstStyle/>
          <a:p>
            <a:pPr algn="l">
              <a:spcAft>
                <a:spcPts val="300"/>
              </a:spcAft>
            </a:pPr>
            <a:r>
              <a:rPr sz="2000" b="1" i="0">
                <a:solidFill>
                  <a:srgbClr val="FF6D4D"/>
                </a:solidFill>
                <a:latin typeface="Corben"/>
                <a:ea typeface="Corben"/>
                <a:cs typeface="Corben"/>
              </a:rPr>
              <a:t>Advisor trust</a:t>
            </a:r>
          </a:p>
          <a:p>
            <a:pPr algn="l">
              <a:spcAft>
                <a:spcPts val="0"/>
              </a:spcAft>
            </a:pPr>
            <a:r>
              <a:rPr sz="1700" b="0" i="0">
                <a:solidFill>
                  <a:srgbClr val="1B2B3A"/>
                </a:solidFill>
                <a:latin typeface="Corben"/>
                <a:ea typeface="Corben"/>
                <a:cs typeface="Corben"/>
              </a:rPr>
              <a:t>Fully transparent score attribution removes the resistance faced by black-box ML outputs.</a:t>
            </a:r>
          </a:p>
        </p:txBody>
      </p:sp>
      <p:sp>
        <p:nvSpPr>
          <p:cNvPr id="16" name="TextBox 15"/>
          <p:cNvSpPr txBox="1"/>
          <p:nvPr/>
        </p:nvSpPr>
        <p:spPr>
          <a:xfrm>
            <a:off x="9326880" y="9418320"/>
            <a:ext cx="8412480" cy="457200"/>
          </a:xfrm>
          <a:prstGeom prst="rect">
            <a:avLst/>
          </a:prstGeom>
          <a:noFill/>
        </p:spPr>
        <p:txBody>
          <a:bodyPr wrap="square" lIns="0" tIns="0" rIns="0" bIns="0" anchor="t">
            <a:spAutoFit/>
          </a:bodyPr>
          <a:lstStyle/>
          <a:p>
            <a:pPr algn="l">
              <a:spcAft>
                <a:spcPts val="0"/>
              </a:spcAft>
            </a:pPr>
            <a:r>
              <a:rPr sz="1400" b="0" i="1">
                <a:solidFill>
                  <a:srgbClr val="404155"/>
                </a:solidFill>
                <a:latin typeface="Corben"/>
                <a:ea typeface="Corben"/>
                <a:cs typeface="Corben"/>
              </a:rPr>
              <a:t>Testbed: Intel Core i5-1135G7, 16 GB RAM, NVMe SSD; single-threaded SQLite.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Screenshots &amp; Interface Evidence (1/3)</a:t>
            </a:r>
          </a:p>
        </p:txBody>
      </p:sp>
      <p:pic>
        <p:nvPicPr>
          <p:cNvPr id="3" name="Picture 2" descr="Student Dashboard"/>
          <p:cNvPicPr>
            <a:picLocks noChangeAspect="1"/>
          </p:cNvPicPr>
          <p:nvPr/>
        </p:nvPicPr>
        <p:blipFill>
          <a:blip r:embed="rId3"/>
          <a:stretch>
            <a:fillRect/>
          </a:stretch>
        </p:blipFill>
        <p:spPr>
          <a:xfrm>
            <a:off x="457200" y="2560320"/>
            <a:ext cx="8503920" cy="4515905"/>
          </a:xfrm>
          <a:prstGeom prst="rect">
            <a:avLst/>
          </a:prstGeom>
          <a:ln w="25400">
            <a:solidFill>
              <a:srgbClr val="4967E9"/>
            </a:solidFill>
          </a:ln>
        </p:spPr>
      </p:pic>
      <p:sp>
        <p:nvSpPr>
          <p:cNvPr id="4" name="TextBox 3"/>
          <p:cNvSpPr txBox="1"/>
          <p:nvPr/>
        </p:nvSpPr>
        <p:spPr>
          <a:xfrm>
            <a:off x="457200" y="7213385"/>
            <a:ext cx="8503920" cy="457200"/>
          </a:xfrm>
          <a:prstGeom prst="rect">
            <a:avLst/>
          </a:prstGeom>
          <a:noFill/>
        </p:spPr>
        <p:txBody>
          <a:bodyPr wrap="square" lIns="0" tIns="0" rIns="0" bIns="0" anchor="t">
            <a:spAutoFit/>
          </a:bodyPr>
          <a:lstStyle/>
          <a:p>
            <a:pPr algn="ctr">
              <a:spcAft>
                <a:spcPts val="600"/>
              </a:spcAft>
            </a:pPr>
            <a:r>
              <a:rPr lang="en-US" sz="2400" b="1" i="0" dirty="0">
                <a:solidFill>
                  <a:srgbClr val="1B2B3A"/>
                </a:solidFill>
                <a:latin typeface="Corben"/>
                <a:ea typeface="Corben"/>
                <a:cs typeface="Corben"/>
              </a:rPr>
              <a:t>1. Student Dashboard</a:t>
            </a:r>
          </a:p>
        </p:txBody>
      </p:sp>
      <p:pic>
        <p:nvPicPr>
          <p:cNvPr id="5" name="Picture 4" descr="Digital Twin – semester progress"/>
          <p:cNvPicPr>
            <a:picLocks noChangeAspect="1"/>
          </p:cNvPicPr>
          <p:nvPr/>
        </p:nvPicPr>
        <p:blipFill>
          <a:blip r:embed="rId4"/>
          <a:stretch>
            <a:fillRect/>
          </a:stretch>
        </p:blipFill>
        <p:spPr>
          <a:xfrm>
            <a:off x="9326880" y="2560320"/>
            <a:ext cx="8503920" cy="4515905"/>
          </a:xfrm>
          <a:prstGeom prst="rect">
            <a:avLst/>
          </a:prstGeom>
          <a:ln w="25400">
            <a:solidFill>
              <a:srgbClr val="4967E9"/>
            </a:solidFill>
          </a:ln>
        </p:spPr>
      </p:pic>
      <p:sp>
        <p:nvSpPr>
          <p:cNvPr id="6" name="TextBox 5"/>
          <p:cNvSpPr txBox="1"/>
          <p:nvPr/>
        </p:nvSpPr>
        <p:spPr>
          <a:xfrm>
            <a:off x="9326880" y="7213385"/>
            <a:ext cx="8503920" cy="457200"/>
          </a:xfrm>
          <a:prstGeom prst="rect">
            <a:avLst/>
          </a:prstGeom>
          <a:noFill/>
        </p:spPr>
        <p:txBody>
          <a:bodyPr wrap="square" lIns="0" tIns="0" rIns="0" bIns="0" anchor="t">
            <a:spAutoFit/>
          </a:bodyPr>
          <a:lstStyle/>
          <a:p>
            <a:pPr algn="ctr">
              <a:spcAft>
                <a:spcPts val="600"/>
              </a:spcAft>
            </a:pPr>
            <a:r>
              <a:rPr lang="en-US" sz="2400" b="1" i="0" dirty="0">
                <a:solidFill>
                  <a:srgbClr val="1B2B3A"/>
                </a:solidFill>
                <a:latin typeface="Corben"/>
                <a:ea typeface="Corben"/>
                <a:cs typeface="Corben"/>
              </a:rPr>
              <a:t>2. Digital Twin – semester progress</a:t>
            </a:r>
          </a:p>
        </p:txBody>
      </p:sp>
      <p:sp>
        <p:nvSpPr>
          <p:cNvPr id="15" name="TextBox 14"/>
          <p:cNvSpPr txBox="1"/>
          <p:nvPr/>
        </p:nvSpPr>
        <p:spPr>
          <a:xfrm>
            <a:off x="548640" y="9555480"/>
            <a:ext cx="17190720" cy="411480"/>
          </a:xfrm>
          <a:prstGeom prst="rect">
            <a:avLst/>
          </a:prstGeom>
          <a:noFill/>
        </p:spPr>
        <p:txBody>
          <a:bodyPr wrap="square" lIns="0" tIns="0" rIns="0" bIns="0" anchor="t">
            <a:spAutoFit/>
          </a:bodyPr>
          <a:lstStyle/>
          <a:p>
            <a:pPr algn="ctr">
              <a:spcAft>
                <a:spcPts val="600"/>
              </a:spcAft>
            </a:pPr>
            <a:r>
              <a:rPr sz="1400" b="0" i="1">
                <a:solidFill>
                  <a:srgbClr val="404155"/>
                </a:solidFill>
                <a:latin typeface="Corben"/>
                <a:ea typeface="Corben"/>
                <a:cs typeface="Corben"/>
              </a:rPr>
              <a:t>Screenshots from the running system in demo / simulation mode.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normAutofit/>
          </a:bodyPr>
          <a:lstStyle/>
          <a:p>
            <a:pPr algn="ctr">
              <a:spcAft>
                <a:spcPts val="600"/>
              </a:spcAft>
            </a:pPr>
            <a:r>
              <a:rPr lang="en-US" sz="4000" b="0" i="0" u="sng" dirty="0">
                <a:solidFill>
                  <a:srgbClr val="4967E9"/>
                </a:solidFill>
                <a:latin typeface="Corben"/>
                <a:ea typeface="Corben"/>
                <a:cs typeface="Corben"/>
              </a:rPr>
              <a:t>SDG Related to Our Project</a:t>
            </a:r>
          </a:p>
        </p:txBody>
      </p:sp>
      <p:sp>
        <p:nvSpPr>
          <p:cNvPr id="3" name="Rounded Rectangle 2"/>
          <p:cNvSpPr/>
          <p:nvPr/>
        </p:nvSpPr>
        <p:spPr>
          <a:xfrm>
            <a:off x="548640" y="1371600"/>
            <a:ext cx="5547360" cy="621792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endParaRPr lang="en-US"/>
          </a:p>
        </p:txBody>
      </p:sp>
      <p:sp>
        <p:nvSpPr>
          <p:cNvPr id="4" name="Oval 3"/>
          <p:cNvSpPr/>
          <p:nvPr/>
        </p:nvSpPr>
        <p:spPr>
          <a:xfrm>
            <a:off x="822960" y="1645920"/>
            <a:ext cx="1005840" cy="100584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lang="en-US" sz="3200" b="1" i="0" dirty="0">
                <a:solidFill>
                  <a:srgbClr val="FFFFFF"/>
                </a:solidFill>
                <a:latin typeface="Corben"/>
                <a:ea typeface="Corben"/>
                <a:cs typeface="Corben"/>
              </a:rPr>
              <a:t>4</a:t>
            </a:r>
          </a:p>
        </p:txBody>
      </p:sp>
      <p:sp>
        <p:nvSpPr>
          <p:cNvPr id="5" name="TextBox 4"/>
          <p:cNvSpPr txBox="1"/>
          <p:nvPr/>
        </p:nvSpPr>
        <p:spPr>
          <a:xfrm>
            <a:off x="2057400" y="1645920"/>
            <a:ext cx="3810000" cy="1005840"/>
          </a:xfrm>
          <a:prstGeom prst="rect">
            <a:avLst/>
          </a:prstGeom>
          <a:noFill/>
        </p:spPr>
        <p:txBody>
          <a:bodyPr wrap="square" lIns="0" tIns="0" rIns="0" bIns="0" anchor="ctr">
            <a:normAutofit/>
          </a:bodyPr>
          <a:lstStyle/>
          <a:p>
            <a:pPr algn="l">
              <a:spcAft>
                <a:spcPts val="200"/>
              </a:spcAft>
            </a:pPr>
            <a:r>
              <a:rPr lang="en-US" sz="2600" b="1" i="0" dirty="0">
                <a:solidFill>
                  <a:srgbClr val="FF6D4D"/>
                </a:solidFill>
                <a:latin typeface="Corben"/>
                <a:ea typeface="Corben"/>
                <a:cs typeface="Corben"/>
              </a:rPr>
              <a:t>SDG 4</a:t>
            </a:r>
          </a:p>
          <a:p>
            <a:pPr algn="l">
              <a:spcAft>
                <a:spcPts val="0"/>
              </a:spcAft>
            </a:pPr>
            <a:r>
              <a:rPr lang="en-US" sz="2200" b="1" i="0" dirty="0">
                <a:solidFill>
                  <a:srgbClr val="1B2B3A"/>
                </a:solidFill>
                <a:latin typeface="Corben"/>
                <a:ea typeface="Corben"/>
                <a:cs typeface="Corben"/>
              </a:rPr>
              <a:t>Quality Education</a:t>
            </a:r>
          </a:p>
        </p:txBody>
      </p:sp>
      <p:sp>
        <p:nvSpPr>
          <p:cNvPr id="6" name="TextBox 5"/>
          <p:cNvSpPr txBox="1"/>
          <p:nvPr/>
        </p:nvSpPr>
        <p:spPr>
          <a:xfrm>
            <a:off x="868680" y="2926080"/>
            <a:ext cx="4907280" cy="4480560"/>
          </a:xfrm>
          <a:prstGeom prst="rect">
            <a:avLst/>
          </a:prstGeom>
          <a:noFill/>
        </p:spPr>
        <p:txBody>
          <a:bodyPr wrap="square" lIns="0" tIns="0" rIns="0" bIns="0" anchor="t">
            <a:normAutofit/>
          </a:bodyPr>
          <a:lstStyle/>
          <a:p>
            <a:pPr algn="l">
              <a:spcAft>
                <a:spcPts val="1200"/>
              </a:spcAft>
            </a:pPr>
            <a:r>
              <a:rPr lang="en-US" sz="2200" b="0" i="1" dirty="0">
                <a:solidFill>
                  <a:srgbClr val="404155"/>
                </a:solidFill>
                <a:latin typeface="Corben"/>
                <a:ea typeface="Corben"/>
                <a:cs typeface="Corben"/>
              </a:rPr>
              <a:t>Target 4.1: every learner completes quality education.</a:t>
            </a:r>
          </a:p>
          <a:p>
            <a:pPr algn="l">
              <a:spcAft>
                <a:spcPts val="600"/>
              </a:spcAft>
            </a:pPr>
            <a:r>
              <a:rPr lang="en-US" sz="2600" b="1" i="0" dirty="0">
                <a:solidFill>
                  <a:srgbClr val="4967E9"/>
                </a:solidFill>
                <a:latin typeface="Corben"/>
                <a:ea typeface="Corben"/>
                <a:cs typeface="Corben"/>
              </a:rPr>
              <a:t>How our project helps</a:t>
            </a:r>
          </a:p>
          <a:p>
            <a:pPr marL="342900" indent="-342900" algn="l">
              <a:spcAft>
                <a:spcPts val="900"/>
              </a:spcAft>
              <a:buFont typeface="Arial"/>
              <a:buChar char="•"/>
            </a:pPr>
            <a:r>
              <a:rPr lang="en-US" sz="2400" b="0" i="0" dirty="0">
                <a:solidFill>
                  <a:srgbClr val="1B2B3A"/>
                </a:solidFill>
                <a:latin typeface="Corben"/>
                <a:ea typeface="Corben"/>
                <a:cs typeface="Corben"/>
              </a:rPr>
              <a:t>Early dropout warning keeps students on track to finish their degree.</a:t>
            </a:r>
          </a:p>
          <a:p>
            <a:pPr marL="342900" indent="-342900" algn="l">
              <a:spcAft>
                <a:spcPts val="0"/>
              </a:spcAft>
              <a:buFont typeface="Arial"/>
              <a:buChar char="•"/>
            </a:pPr>
            <a:r>
              <a:rPr lang="en-US" sz="2400" b="0" i="0" dirty="0">
                <a:solidFill>
                  <a:srgbClr val="1B2B3A"/>
                </a:solidFill>
                <a:latin typeface="Corben"/>
                <a:ea typeface="Corben"/>
                <a:cs typeface="Corben"/>
              </a:rPr>
              <a:t>Explainable scores and What-If counseling give mentors targeted guidance.</a:t>
            </a:r>
          </a:p>
        </p:txBody>
      </p:sp>
      <p:sp>
        <p:nvSpPr>
          <p:cNvPr id="7" name="Rounded Rectangle 6"/>
          <p:cNvSpPr/>
          <p:nvPr/>
        </p:nvSpPr>
        <p:spPr>
          <a:xfrm>
            <a:off x="6370320" y="1371600"/>
            <a:ext cx="5547360" cy="621792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endParaRPr lang="en-US"/>
          </a:p>
        </p:txBody>
      </p:sp>
      <p:sp>
        <p:nvSpPr>
          <p:cNvPr id="8" name="Oval 7"/>
          <p:cNvSpPr/>
          <p:nvPr/>
        </p:nvSpPr>
        <p:spPr>
          <a:xfrm>
            <a:off x="6644640" y="1645920"/>
            <a:ext cx="1005840" cy="100584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lang="en-US" sz="3200" b="1" i="0" dirty="0">
                <a:solidFill>
                  <a:srgbClr val="FFFFFF"/>
                </a:solidFill>
                <a:latin typeface="Corben"/>
                <a:ea typeface="Corben"/>
                <a:cs typeface="Corben"/>
              </a:rPr>
              <a:t>9</a:t>
            </a:r>
          </a:p>
        </p:txBody>
      </p:sp>
      <p:sp>
        <p:nvSpPr>
          <p:cNvPr id="9" name="TextBox 8"/>
          <p:cNvSpPr txBox="1"/>
          <p:nvPr/>
        </p:nvSpPr>
        <p:spPr>
          <a:xfrm>
            <a:off x="7879080" y="1645920"/>
            <a:ext cx="3810000" cy="1005840"/>
          </a:xfrm>
          <a:prstGeom prst="rect">
            <a:avLst/>
          </a:prstGeom>
          <a:noFill/>
        </p:spPr>
        <p:txBody>
          <a:bodyPr wrap="square" lIns="0" tIns="0" rIns="0" bIns="0" anchor="ctr">
            <a:normAutofit/>
          </a:bodyPr>
          <a:lstStyle/>
          <a:p>
            <a:pPr algn="l">
              <a:spcAft>
                <a:spcPts val="200"/>
              </a:spcAft>
            </a:pPr>
            <a:r>
              <a:rPr lang="en-US" sz="2600" b="1" i="0" dirty="0">
                <a:solidFill>
                  <a:srgbClr val="FF6D4D"/>
                </a:solidFill>
                <a:latin typeface="Corben"/>
                <a:ea typeface="Corben"/>
                <a:cs typeface="Corben"/>
              </a:rPr>
              <a:t>SDG 9</a:t>
            </a:r>
          </a:p>
          <a:p>
            <a:pPr algn="l">
              <a:spcAft>
                <a:spcPts val="0"/>
              </a:spcAft>
            </a:pPr>
            <a:r>
              <a:rPr lang="en-US" sz="2200" b="1" i="0" dirty="0">
                <a:solidFill>
                  <a:srgbClr val="1B2B3A"/>
                </a:solidFill>
                <a:latin typeface="Corben"/>
                <a:ea typeface="Corben"/>
                <a:cs typeface="Corben"/>
              </a:rPr>
              <a:t>Industry, Innovation &amp; Infrastructure</a:t>
            </a:r>
          </a:p>
        </p:txBody>
      </p:sp>
      <p:sp>
        <p:nvSpPr>
          <p:cNvPr id="10" name="TextBox 9"/>
          <p:cNvSpPr txBox="1"/>
          <p:nvPr/>
        </p:nvSpPr>
        <p:spPr>
          <a:xfrm>
            <a:off x="6690360" y="2926080"/>
            <a:ext cx="4907280" cy="4480560"/>
          </a:xfrm>
          <a:prstGeom prst="rect">
            <a:avLst/>
          </a:prstGeom>
          <a:noFill/>
        </p:spPr>
        <p:txBody>
          <a:bodyPr wrap="square" lIns="0" tIns="0" rIns="0" bIns="0" anchor="t">
            <a:normAutofit/>
          </a:bodyPr>
          <a:lstStyle/>
          <a:p>
            <a:pPr algn="l">
              <a:spcAft>
                <a:spcPts val="1200"/>
              </a:spcAft>
            </a:pPr>
            <a:r>
              <a:rPr lang="en-US" sz="2200" b="0" i="1" dirty="0">
                <a:solidFill>
                  <a:srgbClr val="404155"/>
                </a:solidFill>
                <a:latin typeface="Corben"/>
                <a:ea typeface="Corben"/>
                <a:cs typeface="Corben"/>
              </a:rPr>
              <a:t>Target 9.5: upgrade technological capabilities and innovation.</a:t>
            </a:r>
          </a:p>
          <a:p>
            <a:pPr algn="l">
              <a:spcAft>
                <a:spcPts val="600"/>
              </a:spcAft>
            </a:pPr>
            <a:r>
              <a:rPr lang="en-US" sz="2600" b="1" i="0" dirty="0">
                <a:solidFill>
                  <a:srgbClr val="4967E9"/>
                </a:solidFill>
                <a:latin typeface="Corben"/>
                <a:ea typeface="Corben"/>
                <a:cs typeface="Corben"/>
              </a:rPr>
              <a:t>How our project helps</a:t>
            </a:r>
          </a:p>
          <a:p>
            <a:pPr marL="342900" indent="-342900" algn="l">
              <a:spcAft>
                <a:spcPts val="900"/>
              </a:spcAft>
              <a:buFont typeface="Arial"/>
              <a:buChar char="•"/>
            </a:pPr>
            <a:r>
              <a:rPr lang="en-US" sz="2400" b="0" i="0" dirty="0">
                <a:solidFill>
                  <a:srgbClr val="1B2B3A"/>
                </a:solidFill>
                <a:latin typeface="Corben"/>
                <a:ea typeface="Corben"/>
                <a:cs typeface="Corben"/>
              </a:rPr>
              <a:t>Brings digital-twin and event-driven AI technology to academic monitoring.</a:t>
            </a:r>
          </a:p>
          <a:p>
            <a:pPr marL="342900" indent="-342900" algn="l">
              <a:spcAft>
                <a:spcPts val="0"/>
              </a:spcAft>
              <a:buFont typeface="Arial"/>
              <a:buChar char="•"/>
            </a:pPr>
            <a:r>
              <a:rPr lang="en-US" sz="2400" b="0" i="0" dirty="0">
                <a:solidFill>
                  <a:srgbClr val="1B2B3A"/>
                </a:solidFill>
                <a:latin typeface="Corben"/>
                <a:ea typeface="Corben"/>
                <a:cs typeface="Corben"/>
              </a:rPr>
              <a:t>Scalable open stack: FastAPI, React and PostgreSQL.</a:t>
            </a:r>
          </a:p>
        </p:txBody>
      </p:sp>
      <p:sp>
        <p:nvSpPr>
          <p:cNvPr id="11" name="Rounded Rectangle 10"/>
          <p:cNvSpPr/>
          <p:nvPr/>
        </p:nvSpPr>
        <p:spPr>
          <a:xfrm>
            <a:off x="12192000" y="1371600"/>
            <a:ext cx="5547360" cy="621792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endParaRPr lang="en-US"/>
          </a:p>
        </p:txBody>
      </p:sp>
      <p:sp>
        <p:nvSpPr>
          <p:cNvPr id="12" name="Oval 11"/>
          <p:cNvSpPr/>
          <p:nvPr/>
        </p:nvSpPr>
        <p:spPr>
          <a:xfrm>
            <a:off x="12466320" y="1645920"/>
            <a:ext cx="1005840" cy="100584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lang="en-US" sz="2800" b="1" i="0" dirty="0">
                <a:solidFill>
                  <a:srgbClr val="FFFFFF"/>
                </a:solidFill>
                <a:latin typeface="Corben"/>
                <a:ea typeface="Corben"/>
                <a:cs typeface="Corben"/>
              </a:rPr>
              <a:t>10</a:t>
            </a:r>
          </a:p>
        </p:txBody>
      </p:sp>
      <p:sp>
        <p:nvSpPr>
          <p:cNvPr id="13" name="TextBox 12"/>
          <p:cNvSpPr txBox="1"/>
          <p:nvPr/>
        </p:nvSpPr>
        <p:spPr>
          <a:xfrm>
            <a:off x="13700760" y="1645920"/>
            <a:ext cx="3810000" cy="1005840"/>
          </a:xfrm>
          <a:prstGeom prst="rect">
            <a:avLst/>
          </a:prstGeom>
          <a:noFill/>
        </p:spPr>
        <p:txBody>
          <a:bodyPr wrap="square" lIns="0" tIns="0" rIns="0" bIns="0" anchor="ctr">
            <a:normAutofit/>
          </a:bodyPr>
          <a:lstStyle/>
          <a:p>
            <a:pPr algn="l">
              <a:spcAft>
                <a:spcPts val="200"/>
              </a:spcAft>
            </a:pPr>
            <a:r>
              <a:rPr lang="en-US" sz="2600" b="1" i="0" dirty="0">
                <a:solidFill>
                  <a:srgbClr val="FF6D4D"/>
                </a:solidFill>
                <a:latin typeface="Corben"/>
                <a:ea typeface="Corben"/>
                <a:cs typeface="Corben"/>
              </a:rPr>
              <a:t>SDG 10</a:t>
            </a:r>
          </a:p>
          <a:p>
            <a:pPr algn="l">
              <a:spcAft>
                <a:spcPts val="0"/>
              </a:spcAft>
            </a:pPr>
            <a:r>
              <a:rPr lang="en-US" sz="2200" b="1" i="0" dirty="0">
                <a:solidFill>
                  <a:srgbClr val="1B2B3A"/>
                </a:solidFill>
                <a:latin typeface="Corben"/>
                <a:ea typeface="Corben"/>
                <a:cs typeface="Corben"/>
              </a:rPr>
              <a:t>Reduced Inequalities</a:t>
            </a:r>
          </a:p>
        </p:txBody>
      </p:sp>
      <p:sp>
        <p:nvSpPr>
          <p:cNvPr id="14" name="TextBox 13"/>
          <p:cNvSpPr txBox="1"/>
          <p:nvPr/>
        </p:nvSpPr>
        <p:spPr>
          <a:xfrm>
            <a:off x="12512040" y="2926080"/>
            <a:ext cx="4907280" cy="4480560"/>
          </a:xfrm>
          <a:prstGeom prst="rect">
            <a:avLst/>
          </a:prstGeom>
          <a:noFill/>
        </p:spPr>
        <p:txBody>
          <a:bodyPr wrap="square" lIns="0" tIns="0" rIns="0" bIns="0" anchor="t">
            <a:normAutofit/>
          </a:bodyPr>
          <a:lstStyle/>
          <a:p>
            <a:pPr algn="l">
              <a:spcAft>
                <a:spcPts val="1200"/>
              </a:spcAft>
            </a:pPr>
            <a:r>
              <a:rPr lang="en-US" sz="2200" b="0" i="1" dirty="0">
                <a:solidFill>
                  <a:srgbClr val="404155"/>
                </a:solidFill>
                <a:latin typeface="Corben"/>
                <a:ea typeface="Corben"/>
                <a:cs typeface="Corben"/>
              </a:rPr>
              <a:t>Target 10.2: include and empower all people.</a:t>
            </a:r>
          </a:p>
          <a:p>
            <a:pPr algn="l">
              <a:spcAft>
                <a:spcPts val="600"/>
              </a:spcAft>
            </a:pPr>
            <a:r>
              <a:rPr lang="en-US" sz="2600" b="1" i="0" dirty="0">
                <a:solidFill>
                  <a:srgbClr val="4967E9"/>
                </a:solidFill>
                <a:latin typeface="Corben"/>
                <a:ea typeface="Corben"/>
                <a:cs typeface="Corben"/>
              </a:rPr>
              <a:t>How our project helps</a:t>
            </a:r>
          </a:p>
          <a:p>
            <a:pPr marL="342900" indent="-342900" algn="l">
              <a:spcAft>
                <a:spcPts val="900"/>
              </a:spcAft>
              <a:buFont typeface="Arial"/>
              <a:buChar char="•"/>
            </a:pPr>
            <a:r>
              <a:rPr lang="en-US" sz="2400" b="0" i="0" dirty="0">
                <a:solidFill>
                  <a:srgbClr val="1B2B3A"/>
                </a:solidFill>
                <a:latin typeface="Corben"/>
                <a:ea typeface="Corben"/>
                <a:cs typeface="Corben"/>
              </a:rPr>
              <a:t>Flags at-risk students early so support reaches them on time.</a:t>
            </a:r>
          </a:p>
          <a:p>
            <a:pPr marL="342900" indent="-342900" algn="l">
              <a:spcAft>
                <a:spcPts val="0"/>
              </a:spcAft>
              <a:buFont typeface="Arial"/>
              <a:buChar char="•"/>
            </a:pPr>
            <a:r>
              <a:rPr lang="en-US" sz="2400" b="0" i="0" dirty="0">
                <a:solidFill>
                  <a:srgbClr val="1B2B3A"/>
                </a:solidFill>
                <a:latin typeface="Corben"/>
                <a:ea typeface="Corben"/>
                <a:cs typeface="Corben"/>
              </a:rPr>
              <a:t>Parent portal and mobile client widen access for every family.</a:t>
            </a:r>
          </a:p>
        </p:txBody>
      </p:sp>
      <p:sp>
        <p:nvSpPr>
          <p:cNvPr id="15" name="Rounded Rectangle 14"/>
          <p:cNvSpPr/>
          <p:nvPr/>
        </p:nvSpPr>
        <p:spPr>
          <a:xfrm>
            <a:off x="548640" y="7863840"/>
            <a:ext cx="17190720" cy="118872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365760" tIns="91440" rIns="365760" bIns="91440" rtlCol="0" anchor="ctr"/>
          <a:lstStyle/>
          <a:p>
            <a:pPr algn="l">
              <a:spcAft>
                <a:spcPts val="0"/>
              </a:spcAft>
            </a:pPr>
            <a:r>
              <a:rPr lang="en-US" sz="2400" b="1" i="0" dirty="0">
                <a:solidFill>
                  <a:srgbClr val="4967E9"/>
                </a:solidFill>
                <a:latin typeface="Corben"/>
                <a:ea typeface="Corben"/>
                <a:cs typeface="Corben"/>
              </a:rPr>
              <a:t>Primary alignment: </a:t>
            </a:r>
            <a:r>
              <a:rPr lang="en-US" sz="2400" b="1" i="0" dirty="0">
                <a:solidFill>
                  <a:srgbClr val="1B2B3A"/>
                </a:solidFill>
                <a:latin typeface="Corben"/>
                <a:ea typeface="Corben"/>
                <a:cs typeface="Corben"/>
              </a:rPr>
              <a:t>SDG 4</a:t>
            </a:r>
            <a:r>
              <a:rPr lang="en-US" sz="2400" b="0" i="0" dirty="0">
                <a:solidFill>
                  <a:srgbClr val="1B2B3A"/>
                </a:solidFill>
                <a:latin typeface="Corben"/>
                <a:ea typeface="Corben"/>
                <a:cs typeface="Corben"/>
              </a:rPr>
              <a:t> – Quality Education, by reducing dropouts through early, explainable intervention.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Conclusion, Future Work &amp; References</a:t>
            </a:r>
          </a:p>
        </p:txBody>
      </p:sp>
      <p:sp>
        <p:nvSpPr>
          <p:cNvPr id="3" name="TextBox 2"/>
          <p:cNvSpPr txBox="1"/>
          <p:nvPr/>
        </p:nvSpPr>
        <p:spPr>
          <a:xfrm>
            <a:off x="548640" y="1280160"/>
            <a:ext cx="54864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Conclusion</a:t>
            </a:r>
          </a:p>
        </p:txBody>
      </p:sp>
      <p:sp>
        <p:nvSpPr>
          <p:cNvPr id="4" name="TextBox 3"/>
          <p:cNvSpPr txBox="1"/>
          <p:nvPr/>
        </p:nvSpPr>
        <p:spPr>
          <a:xfrm>
            <a:off x="548640" y="1874519"/>
            <a:ext cx="5486400" cy="4816703"/>
          </a:xfrm>
          <a:prstGeom prst="rect">
            <a:avLst/>
          </a:prstGeom>
          <a:noFill/>
        </p:spPr>
        <p:txBody>
          <a:bodyPr wrap="square" lIns="0" tIns="0" rIns="0" bIns="0" anchor="t">
            <a:spAutoFit/>
          </a:bodyPr>
          <a:lstStyle/>
          <a:p>
            <a:pPr marL="320040" indent="-320040" algn="l">
              <a:spcAft>
                <a:spcPts val="1000"/>
              </a:spcAft>
              <a:buChar char="•"/>
            </a:pPr>
            <a:r>
              <a:rPr sz="2400" b="0" i="0" dirty="0">
                <a:solidFill>
                  <a:srgbClr val="1B2B3A"/>
                </a:solidFill>
                <a:latin typeface="Corben"/>
                <a:ea typeface="Corben"/>
                <a:cs typeface="Corben"/>
              </a:rPr>
              <a:t>Developed, integrated and verified the Digital Class Twin platform for early dropout warning.</a:t>
            </a:r>
          </a:p>
          <a:p>
            <a:pPr marL="320040" indent="-320040" algn="l">
              <a:spcAft>
                <a:spcPts val="1000"/>
              </a:spcAft>
              <a:buChar char="•"/>
            </a:pPr>
            <a:r>
              <a:rPr sz="2400" b="0" i="0" dirty="0">
                <a:solidFill>
                  <a:srgbClr val="1B2B3A"/>
                </a:solidFill>
                <a:latin typeface="Corben"/>
                <a:ea typeface="Corben"/>
                <a:cs typeface="Corben"/>
              </a:rPr>
              <a:t>Moved academic monitoring from term-end condonation panic to proactive, real-time guidance.</a:t>
            </a:r>
          </a:p>
          <a:p>
            <a:pPr marL="320040" indent="-320040" algn="l">
              <a:spcAft>
                <a:spcPts val="1000"/>
              </a:spcAft>
              <a:buChar char="•"/>
            </a:pPr>
            <a:r>
              <a:rPr sz="2400" b="0" i="0" dirty="0">
                <a:solidFill>
                  <a:srgbClr val="1B2B3A"/>
                </a:solidFill>
                <a:latin typeface="Corben"/>
                <a:ea typeface="Corben"/>
                <a:cs typeface="Corben"/>
              </a:rPr>
              <a:t>Validated sub-30 </a:t>
            </a:r>
            <a:r>
              <a:rPr sz="2400" b="0" i="0" dirty="0" err="1">
                <a:solidFill>
                  <a:srgbClr val="1B2B3A"/>
                </a:solidFill>
                <a:latin typeface="Corben"/>
                <a:ea typeface="Corben"/>
                <a:cs typeface="Corben"/>
              </a:rPr>
              <a:t>ms</a:t>
            </a:r>
            <a:r>
              <a:rPr sz="2400" b="0" i="0" dirty="0">
                <a:solidFill>
                  <a:srgbClr val="1B2B3A"/>
                </a:solidFill>
                <a:latin typeface="Corben"/>
                <a:ea typeface="Corben"/>
                <a:cs typeface="Corben"/>
              </a:rPr>
              <a:t> ingestion, anti-flicker state transitions and interactive What-If counseling.</a:t>
            </a:r>
          </a:p>
          <a:p>
            <a:pPr marL="320040" indent="-320040" algn="l">
              <a:spcAft>
                <a:spcPts val="1000"/>
              </a:spcAft>
              <a:buChar char="•"/>
            </a:pPr>
            <a:r>
              <a:rPr sz="2400" b="0" i="0" dirty="0">
                <a:solidFill>
                  <a:srgbClr val="1B2B3A"/>
                </a:solidFill>
                <a:latin typeface="Corben"/>
                <a:ea typeface="Corben"/>
                <a:cs typeface="Corben"/>
              </a:rPr>
              <a:t>Delivered role-based interfaces across desktop web and mobile clients.</a:t>
            </a:r>
          </a:p>
        </p:txBody>
      </p:sp>
      <p:sp>
        <p:nvSpPr>
          <p:cNvPr id="5" name="TextBox 4"/>
          <p:cNvSpPr txBox="1"/>
          <p:nvPr/>
        </p:nvSpPr>
        <p:spPr>
          <a:xfrm>
            <a:off x="6400800" y="1280160"/>
            <a:ext cx="54864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Future Work</a:t>
            </a:r>
          </a:p>
        </p:txBody>
      </p:sp>
      <p:sp>
        <p:nvSpPr>
          <p:cNvPr id="6" name="Rounded Rectangle 5"/>
          <p:cNvSpPr/>
          <p:nvPr/>
        </p:nvSpPr>
        <p:spPr>
          <a:xfrm>
            <a:off x="6400800" y="1874519"/>
            <a:ext cx="5394960" cy="237744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56032" tIns="201168" rIns="256032" bIns="201168" rtlCol="0" anchor="t"/>
          <a:lstStyle/>
          <a:p>
            <a:pPr algn="l">
              <a:spcAft>
                <a:spcPts val="400"/>
              </a:spcAft>
            </a:pPr>
            <a:r>
              <a:rPr sz="2000" b="1" i="0" dirty="0">
                <a:solidFill>
                  <a:srgbClr val="FF6D4D"/>
                </a:solidFill>
                <a:latin typeface="Corben"/>
                <a:ea typeface="Corben"/>
                <a:cs typeface="Corben"/>
              </a:rPr>
              <a:t>Phase 1</a:t>
            </a:r>
          </a:p>
          <a:p>
            <a:pPr algn="l">
              <a:spcAft>
                <a:spcPts val="0"/>
              </a:spcAft>
            </a:pPr>
            <a:r>
              <a:rPr sz="2400" b="0" i="0" dirty="0">
                <a:solidFill>
                  <a:srgbClr val="1B2B3A"/>
                </a:solidFill>
                <a:latin typeface="Corben"/>
                <a:ea typeface="Corben"/>
                <a:cs typeface="Corben"/>
              </a:rPr>
              <a:t>Database &amp; queue scaling: PostgreSQL with Redis-backed Celery task queues</a:t>
            </a:r>
          </a:p>
        </p:txBody>
      </p:sp>
      <p:sp>
        <p:nvSpPr>
          <p:cNvPr id="7" name="Rounded Rectangle 6"/>
          <p:cNvSpPr/>
          <p:nvPr/>
        </p:nvSpPr>
        <p:spPr>
          <a:xfrm>
            <a:off x="6400800" y="4434840"/>
            <a:ext cx="5394960" cy="237744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56032" tIns="201168" rIns="256032" bIns="201168" rtlCol="0" anchor="t"/>
          <a:lstStyle/>
          <a:p>
            <a:pPr algn="l">
              <a:spcAft>
                <a:spcPts val="400"/>
              </a:spcAft>
            </a:pPr>
            <a:r>
              <a:rPr sz="2000" b="1" i="0" dirty="0">
                <a:solidFill>
                  <a:srgbClr val="FF6D4D"/>
                </a:solidFill>
                <a:latin typeface="Corben"/>
                <a:ea typeface="Corben"/>
                <a:cs typeface="Corben"/>
              </a:rPr>
              <a:t>Phase 2</a:t>
            </a:r>
          </a:p>
          <a:p>
            <a:pPr algn="l">
              <a:spcAft>
                <a:spcPts val="0"/>
              </a:spcAft>
            </a:pPr>
            <a:r>
              <a:rPr sz="2400" b="0" i="0" dirty="0">
                <a:solidFill>
                  <a:srgbClr val="1B2B3A"/>
                </a:solidFill>
                <a:latin typeface="Corben"/>
                <a:ea typeface="Corben"/>
                <a:cs typeface="Corben"/>
              </a:rPr>
              <a:t>Deep predictive modeling: LSTM / </a:t>
            </a:r>
            <a:r>
              <a:rPr sz="2400" b="0" i="0" dirty="0" err="1">
                <a:solidFill>
                  <a:srgbClr val="1B2B3A"/>
                </a:solidFill>
                <a:latin typeface="Corben"/>
                <a:ea typeface="Corben"/>
                <a:cs typeface="Corben"/>
              </a:rPr>
              <a:t>XGBoost</a:t>
            </a:r>
            <a:r>
              <a:rPr sz="2400" b="0" i="0" dirty="0">
                <a:solidFill>
                  <a:srgbClr val="1B2B3A"/>
                </a:solidFill>
                <a:latin typeface="Corben"/>
                <a:ea typeface="Corben"/>
                <a:cs typeface="Corben"/>
              </a:rPr>
              <a:t> trained on multi-year cohorts</a:t>
            </a:r>
          </a:p>
        </p:txBody>
      </p:sp>
      <p:sp>
        <p:nvSpPr>
          <p:cNvPr id="8" name="Rounded Rectangle 7"/>
          <p:cNvSpPr/>
          <p:nvPr/>
        </p:nvSpPr>
        <p:spPr>
          <a:xfrm>
            <a:off x="6400800" y="6995159"/>
            <a:ext cx="5394960" cy="237744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56032" tIns="201168" rIns="256032" bIns="201168" rtlCol="0" anchor="t"/>
          <a:lstStyle/>
          <a:p>
            <a:pPr algn="l">
              <a:spcAft>
                <a:spcPts val="400"/>
              </a:spcAft>
            </a:pPr>
            <a:r>
              <a:rPr sz="2000" b="1" i="0" dirty="0">
                <a:solidFill>
                  <a:srgbClr val="FF6D4D"/>
                </a:solidFill>
                <a:latin typeface="Corben"/>
                <a:ea typeface="Corben"/>
                <a:cs typeface="Corben"/>
              </a:rPr>
              <a:t>Phase 3</a:t>
            </a:r>
          </a:p>
          <a:p>
            <a:pPr algn="l">
              <a:spcAft>
                <a:spcPts val="0"/>
              </a:spcAft>
            </a:pPr>
            <a:r>
              <a:rPr sz="2400" b="0" i="0" dirty="0">
                <a:solidFill>
                  <a:srgbClr val="1B2B3A"/>
                </a:solidFill>
                <a:latin typeface="Corben"/>
                <a:ea typeface="Corben"/>
                <a:cs typeface="Corben"/>
              </a:rPr>
              <a:t>Campus ERP integration: biometric / RFID turnstiles, SMS and WhatsApp parent alerts</a:t>
            </a:r>
          </a:p>
        </p:txBody>
      </p:sp>
      <p:sp>
        <p:nvSpPr>
          <p:cNvPr id="9" name="TextBox 8"/>
          <p:cNvSpPr txBox="1"/>
          <p:nvPr/>
        </p:nvSpPr>
        <p:spPr>
          <a:xfrm>
            <a:off x="12161520" y="1280160"/>
            <a:ext cx="54864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References</a:t>
            </a:r>
          </a:p>
        </p:txBody>
      </p:sp>
      <p:sp>
        <p:nvSpPr>
          <p:cNvPr id="10" name="TextBox 9"/>
          <p:cNvSpPr txBox="1"/>
          <p:nvPr/>
        </p:nvSpPr>
        <p:spPr>
          <a:xfrm>
            <a:off x="12161520" y="1874519"/>
            <a:ext cx="5577840" cy="6001643"/>
          </a:xfrm>
          <a:prstGeom prst="rect">
            <a:avLst/>
          </a:prstGeom>
          <a:noFill/>
        </p:spPr>
        <p:txBody>
          <a:bodyPr wrap="square" lIns="0" tIns="0" rIns="0" bIns="0" anchor="t">
            <a:spAutoFit/>
          </a:bodyPr>
          <a:lstStyle/>
          <a:p>
            <a:pPr algn="l">
              <a:spcAft>
                <a:spcPts val="900"/>
              </a:spcAft>
            </a:pPr>
            <a:r>
              <a:rPr lang="en-US" sz="2000" b="1" i="0" dirty="0">
                <a:solidFill>
                  <a:srgbClr val="4967E9"/>
                </a:solidFill>
                <a:latin typeface="Corben"/>
                <a:ea typeface="Corben"/>
                <a:cs typeface="Corben"/>
              </a:rPr>
              <a:t>[1</a:t>
            </a:r>
            <a:r>
              <a:rPr sz="2000" b="1" i="0" dirty="0">
                <a:solidFill>
                  <a:srgbClr val="4967E9"/>
                </a:solidFill>
                <a:latin typeface="Corben"/>
                <a:ea typeface="Corben"/>
                <a:cs typeface="Corben"/>
              </a:rPr>
              <a:t>] </a:t>
            </a:r>
            <a:r>
              <a:rPr sz="2000" b="0" i="0" dirty="0" err="1">
                <a:solidFill>
                  <a:srgbClr val="1B2B3A"/>
                </a:solidFill>
                <a:latin typeface="Corben"/>
                <a:ea typeface="Corben"/>
                <a:cs typeface="Corben"/>
              </a:rPr>
              <a:t>Alalawi</a:t>
            </a:r>
            <a:r>
              <a:rPr sz="2000" b="0" i="0" dirty="0">
                <a:solidFill>
                  <a:srgbClr val="1B2B3A"/>
                </a:solidFill>
                <a:latin typeface="Corben"/>
                <a:ea typeface="Corben"/>
                <a:cs typeface="Corben"/>
              </a:rPr>
              <a:t>, F. et al. (2025). An Extended Learning Analytics Framework Integrating ML and Pedagogical Approaches. Educ. Inf. Technol., 30(1), 145–168.</a:t>
            </a:r>
          </a:p>
          <a:p>
            <a:pPr algn="l">
              <a:spcAft>
                <a:spcPts val="900"/>
              </a:spcAft>
            </a:pPr>
            <a:r>
              <a:rPr sz="2000" b="1" i="0" dirty="0">
                <a:solidFill>
                  <a:srgbClr val="4967E9"/>
                </a:solidFill>
                <a:latin typeface="Corben"/>
                <a:ea typeface="Corben"/>
                <a:cs typeface="Corben"/>
              </a:rPr>
              <a:t>[2] </a:t>
            </a:r>
            <a:r>
              <a:rPr sz="2000" b="0" i="0" dirty="0" err="1">
                <a:solidFill>
                  <a:srgbClr val="1B2B3A"/>
                </a:solidFill>
                <a:latin typeface="Corben"/>
                <a:ea typeface="Corben"/>
                <a:cs typeface="Corben"/>
              </a:rPr>
              <a:t>Katsuragi</a:t>
            </a:r>
            <a:r>
              <a:rPr sz="2000" b="0" i="0" dirty="0">
                <a:solidFill>
                  <a:srgbClr val="1B2B3A"/>
                </a:solidFill>
                <a:latin typeface="Corben"/>
                <a:ea typeface="Corben"/>
                <a:cs typeface="Corben"/>
              </a:rPr>
              <a:t>, T. &amp; Tanaka, K. (2022). Dropout Prediction by Interpretable Machine Learning Model. Proc. CSEDU 2022, 2, 312–319.</a:t>
            </a:r>
          </a:p>
          <a:p>
            <a:pPr algn="l">
              <a:spcAft>
                <a:spcPts val="900"/>
              </a:spcAft>
            </a:pPr>
            <a:r>
              <a:rPr sz="2000" b="1" i="0" dirty="0">
                <a:solidFill>
                  <a:srgbClr val="4967E9"/>
                </a:solidFill>
                <a:latin typeface="Corben"/>
                <a:ea typeface="Corben"/>
                <a:cs typeface="Corben"/>
              </a:rPr>
              <a:t>[3] </a:t>
            </a:r>
            <a:r>
              <a:rPr sz="2000" b="0" i="0" dirty="0" err="1">
                <a:solidFill>
                  <a:srgbClr val="1B2B3A"/>
                </a:solidFill>
                <a:latin typeface="Corben"/>
                <a:ea typeface="Corben"/>
                <a:cs typeface="Corben"/>
              </a:rPr>
              <a:t>Tiukhova</a:t>
            </a:r>
            <a:r>
              <a:rPr sz="2000" b="0" i="0" dirty="0">
                <a:solidFill>
                  <a:srgbClr val="1B2B3A"/>
                </a:solidFill>
                <a:latin typeface="Corben"/>
                <a:ea typeface="Corben"/>
                <a:cs typeface="Corben"/>
              </a:rPr>
              <a:t>, E. et al. (2024). Explainable Learning Analytics: Assessing Stability of Student Success Models. J. Learn. Analytics, 11(2), 88–104.</a:t>
            </a:r>
          </a:p>
          <a:p>
            <a:pPr algn="l">
              <a:spcAft>
                <a:spcPts val="900"/>
              </a:spcAft>
            </a:pPr>
            <a:r>
              <a:rPr sz="2000" b="1" i="0" dirty="0">
                <a:solidFill>
                  <a:srgbClr val="4967E9"/>
                </a:solidFill>
                <a:latin typeface="Corben"/>
                <a:ea typeface="Corben"/>
                <a:cs typeface="Corben"/>
              </a:rPr>
              <a:t>[4] </a:t>
            </a:r>
            <a:r>
              <a:rPr sz="2000" b="0" i="0" dirty="0">
                <a:solidFill>
                  <a:srgbClr val="1B2B3A"/>
                </a:solidFill>
                <a:latin typeface="Corben"/>
                <a:ea typeface="Corben"/>
                <a:cs typeface="Corben"/>
              </a:rPr>
              <a:t>Grieves, M. &amp; Vickers, J. (2017). Digital Twin: Mitigating Unpredictable, Undesirable Emergent Behavior. Springer Cham, 85–113.</a:t>
            </a:r>
          </a:p>
          <a:p>
            <a:pPr algn="l">
              <a:spcAft>
                <a:spcPts val="900"/>
              </a:spcAft>
            </a:pPr>
            <a:r>
              <a:rPr sz="2000" b="1" i="0" dirty="0">
                <a:solidFill>
                  <a:srgbClr val="4967E9"/>
                </a:solidFill>
                <a:latin typeface="Corben"/>
                <a:ea typeface="Corben"/>
                <a:cs typeface="Corben"/>
              </a:rPr>
              <a:t>[5] </a:t>
            </a:r>
            <a:r>
              <a:rPr sz="2000" b="0" i="0" dirty="0" err="1">
                <a:solidFill>
                  <a:srgbClr val="1B2B3A"/>
                </a:solidFill>
                <a:latin typeface="Corben"/>
                <a:ea typeface="Corben"/>
                <a:cs typeface="Corben"/>
              </a:rPr>
              <a:t>Plak</a:t>
            </a:r>
            <a:r>
              <a:rPr sz="2000" b="0" i="0" dirty="0">
                <a:solidFill>
                  <a:srgbClr val="1B2B3A"/>
                </a:solidFill>
                <a:latin typeface="Corben"/>
                <a:ea typeface="Corben"/>
                <a:cs typeface="Corben"/>
              </a:rPr>
              <a:t>, S. et al. (2022). Early Warning Systems for More Effective Student Counselling in Higher Education. Assess. &amp; Eval. High. Educ., 47(6), 910–924.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Participation in Technical Event – Status</a:t>
            </a:r>
          </a:p>
        </p:txBody>
      </p:sp>
      <p:sp>
        <p:nvSpPr>
          <p:cNvPr id="3" name="Rounded Rectangle 2"/>
          <p:cNvSpPr/>
          <p:nvPr/>
        </p:nvSpPr>
        <p:spPr>
          <a:xfrm>
            <a:off x="548640" y="1371600"/>
            <a:ext cx="7680960" cy="3108960"/>
          </a:xfrm>
          <a:prstGeom prst="roundRect">
            <a:avLst>
              <a:gd name="adj" fmla="val 8000"/>
            </a:avLst>
          </a:prstGeom>
          <a:solidFill>
            <a:srgbClr val="FFFFFF"/>
          </a:solidFill>
          <a:ln w="31750">
            <a:solidFill>
              <a:srgbClr val="FF6D4D"/>
            </a:solidFill>
          </a:ln>
          <a:effectLst/>
        </p:spPr>
        <p:style>
          <a:lnRef idx="1">
            <a:schemeClr val="accent1"/>
          </a:lnRef>
          <a:fillRef idx="3">
            <a:schemeClr val="accent1"/>
          </a:fillRef>
          <a:effectRef idx="2">
            <a:schemeClr val="accent1"/>
          </a:effectRef>
          <a:fontRef idx="minor">
            <a:schemeClr val="lt1"/>
          </a:fontRef>
        </p:style>
        <p:txBody>
          <a:bodyPr wrap="square" lIns="365760" tIns="182880" rIns="365760" bIns="182880" rtlCol="0" anchor="ctr"/>
          <a:lstStyle/>
          <a:p>
            <a:pPr algn="l">
              <a:spcAft>
                <a:spcPts val="800"/>
              </a:spcAft>
            </a:pPr>
            <a:r>
              <a:rPr sz="2400" b="1" i="0" dirty="0">
                <a:solidFill>
                  <a:srgbClr val="FF6D4D"/>
                </a:solidFill>
                <a:latin typeface="Corben"/>
                <a:ea typeface="Corben"/>
                <a:cs typeface="Corben"/>
              </a:rPr>
              <a:t>Current Status</a:t>
            </a:r>
          </a:p>
          <a:p>
            <a:pPr algn="l">
              <a:spcAft>
                <a:spcPts val="800"/>
              </a:spcAft>
            </a:pPr>
            <a:r>
              <a:rPr sz="2100" b="0" i="0" dirty="0">
                <a:solidFill>
                  <a:srgbClr val="1B2B3A"/>
                </a:solidFill>
                <a:latin typeface="Corben"/>
                <a:ea typeface="Corben"/>
                <a:cs typeface="Corben"/>
              </a:rPr>
              <a:t>Not yet presented at </a:t>
            </a:r>
            <a:r>
              <a:rPr lang="en-US" sz="2100" dirty="0">
                <a:solidFill>
                  <a:srgbClr val="1B2B3A"/>
                </a:solidFill>
                <a:latin typeface="Corben"/>
                <a:ea typeface="Corben"/>
                <a:cs typeface="Corben"/>
              </a:rPr>
              <a:t>any technical </a:t>
            </a:r>
            <a:r>
              <a:rPr lang="en-US" sz="2100" dirty="0" err="1">
                <a:solidFill>
                  <a:srgbClr val="1B2B3A"/>
                </a:solidFill>
                <a:latin typeface="Corben"/>
                <a:ea typeface="Corben"/>
                <a:cs typeface="Corben"/>
              </a:rPr>
              <a:t>events.</a:t>
            </a:r>
            <a:r>
              <a:rPr sz="2100" b="0" i="0" dirty="0" err="1">
                <a:solidFill>
                  <a:srgbClr val="1B2B3A"/>
                </a:solidFill>
                <a:latin typeface="Corben"/>
                <a:ea typeface="Corben"/>
                <a:cs typeface="Corben"/>
              </a:rPr>
              <a:t>Going</a:t>
            </a:r>
            <a:r>
              <a:rPr sz="2100" b="0" i="0" dirty="0">
                <a:solidFill>
                  <a:srgbClr val="1B2B3A"/>
                </a:solidFill>
                <a:latin typeface="Corben"/>
                <a:ea typeface="Corben"/>
                <a:cs typeface="Corben"/>
              </a:rPr>
              <a:t> for international events instead.</a:t>
            </a:r>
          </a:p>
          <a:p>
            <a:pPr algn="l">
              <a:spcAft>
                <a:spcPts val="0"/>
              </a:spcAft>
            </a:pPr>
            <a:r>
              <a:rPr sz="2100" b="1" i="0" dirty="0">
                <a:solidFill>
                  <a:srgbClr val="4967E9"/>
                </a:solidFill>
                <a:latin typeface="Corben"/>
                <a:ea typeface="Corben"/>
                <a:cs typeface="Corben"/>
              </a:rPr>
              <a:t>Planned: </a:t>
            </a:r>
            <a:r>
              <a:rPr sz="2100" b="0" i="0" dirty="0">
                <a:solidFill>
                  <a:srgbClr val="1B2B3A"/>
                </a:solidFill>
                <a:latin typeface="Corben"/>
                <a:ea typeface="Corben"/>
                <a:cs typeface="Corben"/>
              </a:rPr>
              <a:t>ICAESEM 2026 conference and International Hackathon 5.0.</a:t>
            </a:r>
          </a:p>
        </p:txBody>
      </p:sp>
      <p:sp>
        <p:nvSpPr>
          <p:cNvPr id="4" name="Rounded Rectangle 3"/>
          <p:cNvSpPr/>
          <p:nvPr/>
        </p:nvSpPr>
        <p:spPr>
          <a:xfrm>
            <a:off x="8686800" y="1371600"/>
            <a:ext cx="9052560" cy="31089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365760" tIns="182880" rIns="365760" bIns="182880" rtlCol="0" anchor="ctr"/>
          <a:lstStyle/>
          <a:p>
            <a:pPr algn="l">
              <a:spcAft>
                <a:spcPts val="800"/>
              </a:spcAft>
            </a:pPr>
            <a:r>
              <a:rPr sz="2400" b="1" i="0">
                <a:solidFill>
                  <a:srgbClr val="FF6D4D"/>
                </a:solidFill>
                <a:latin typeface="Corben"/>
                <a:ea typeface="Corben"/>
                <a:cs typeface="Corben"/>
              </a:rPr>
              <a:t>Project to be presented</a:t>
            </a:r>
          </a:p>
          <a:p>
            <a:pPr algn="l">
              <a:spcAft>
                <a:spcPts val="800"/>
              </a:spcAft>
            </a:pPr>
            <a:r>
              <a:rPr sz="2100" b="0" i="0">
                <a:solidFill>
                  <a:srgbClr val="1B2B3A"/>
                </a:solidFill>
                <a:latin typeface="Corben"/>
                <a:ea typeface="Corben"/>
                <a:cs typeface="Corben"/>
              </a:rPr>
              <a:t>AI-Driven Academic Risk &amp; Dropout Early-Warning System Using Digital Twin (Digital Class Twin)</a:t>
            </a:r>
          </a:p>
          <a:p>
            <a:pPr algn="l">
              <a:spcAft>
                <a:spcPts val="0"/>
              </a:spcAft>
            </a:pPr>
            <a:r>
              <a:rPr sz="1800" b="0" i="0">
                <a:solidFill>
                  <a:srgbClr val="404155"/>
                </a:solidFill>
                <a:latin typeface="Corben"/>
                <a:ea typeface="Corben"/>
                <a:cs typeface="Corben"/>
              </a:rPr>
              <a:t>Team: Altrin Benser A, Jerish Rethna J, John Jins J, Mukhilan M</a:t>
            </a:r>
          </a:p>
        </p:txBody>
      </p:sp>
      <p:sp>
        <p:nvSpPr>
          <p:cNvPr id="5" name="TextBox 4"/>
          <p:cNvSpPr txBox="1"/>
          <p:nvPr/>
        </p:nvSpPr>
        <p:spPr>
          <a:xfrm>
            <a:off x="548640" y="4846320"/>
            <a:ext cx="91440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Planned Participation Details</a:t>
            </a:r>
          </a:p>
        </p:txBody>
      </p:sp>
      <p:sp>
        <p:nvSpPr>
          <p:cNvPr id="6" name="Rounded Rectangle 5"/>
          <p:cNvSpPr/>
          <p:nvPr/>
        </p:nvSpPr>
        <p:spPr>
          <a:xfrm>
            <a:off x="548640" y="5486400"/>
            <a:ext cx="4160520" cy="17373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pPr algn="l">
              <a:spcAft>
                <a:spcPts val="400"/>
              </a:spcAft>
            </a:pPr>
            <a:r>
              <a:rPr sz="1700" b="0" i="0" dirty="0">
                <a:solidFill>
                  <a:srgbClr val="404155"/>
                </a:solidFill>
                <a:latin typeface="Corben"/>
                <a:ea typeface="Corben"/>
                <a:cs typeface="Corben"/>
              </a:rPr>
              <a:t>International Conference</a:t>
            </a:r>
          </a:p>
          <a:p>
            <a:pPr algn="l">
              <a:spcAft>
                <a:spcPts val="0"/>
              </a:spcAft>
            </a:pPr>
            <a:r>
              <a:rPr sz="2200" b="1" i="0" dirty="0">
                <a:solidFill>
                  <a:srgbClr val="FF6D4D"/>
                </a:solidFill>
                <a:latin typeface="Corben"/>
                <a:ea typeface="Corben"/>
                <a:cs typeface="Corben"/>
              </a:rPr>
              <a:t>ICAESEM 2026</a:t>
            </a:r>
          </a:p>
        </p:txBody>
      </p:sp>
      <p:sp>
        <p:nvSpPr>
          <p:cNvPr id="7" name="Rounded Rectangle 6"/>
          <p:cNvSpPr/>
          <p:nvPr/>
        </p:nvSpPr>
        <p:spPr>
          <a:xfrm>
            <a:off x="4892040" y="5486400"/>
            <a:ext cx="4160520" cy="17373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pPr algn="l">
              <a:spcAft>
                <a:spcPts val="400"/>
              </a:spcAft>
            </a:pPr>
            <a:r>
              <a:rPr sz="1700" b="0" i="0">
                <a:solidFill>
                  <a:srgbClr val="404155"/>
                </a:solidFill>
                <a:latin typeface="Corben"/>
                <a:ea typeface="Corben"/>
                <a:cs typeface="Corben"/>
              </a:rPr>
              <a:t>Date</a:t>
            </a:r>
          </a:p>
          <a:p>
            <a:pPr algn="l">
              <a:spcAft>
                <a:spcPts val="0"/>
              </a:spcAft>
            </a:pPr>
            <a:r>
              <a:rPr sz="2200" b="1" i="0">
                <a:solidFill>
                  <a:srgbClr val="FF6D4D"/>
                </a:solidFill>
                <a:latin typeface="Corben"/>
                <a:ea typeface="Corben"/>
                <a:cs typeface="Corben"/>
              </a:rPr>
              <a:t>30 – 31 Oct 2026</a:t>
            </a:r>
          </a:p>
        </p:txBody>
      </p:sp>
      <p:sp>
        <p:nvSpPr>
          <p:cNvPr id="8" name="Rounded Rectangle 7"/>
          <p:cNvSpPr/>
          <p:nvPr/>
        </p:nvSpPr>
        <p:spPr>
          <a:xfrm>
            <a:off x="9235440" y="5486400"/>
            <a:ext cx="4160520" cy="17373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pPr algn="l">
              <a:spcAft>
                <a:spcPts val="400"/>
              </a:spcAft>
            </a:pPr>
            <a:r>
              <a:rPr sz="1700" b="0" i="0">
                <a:solidFill>
                  <a:srgbClr val="404155"/>
                </a:solidFill>
                <a:latin typeface="Corben"/>
                <a:ea typeface="Corben"/>
                <a:cs typeface="Corben"/>
              </a:rPr>
              <a:t>Venue / Mode</a:t>
            </a:r>
          </a:p>
          <a:p>
            <a:pPr algn="l">
              <a:spcAft>
                <a:spcPts val="0"/>
              </a:spcAft>
            </a:pPr>
            <a:r>
              <a:rPr sz="2200" b="1" i="0">
                <a:solidFill>
                  <a:srgbClr val="FF6D4D"/>
                </a:solidFill>
                <a:latin typeface="Corben"/>
                <a:ea typeface="Corben"/>
                <a:cs typeface="Corben"/>
              </a:rPr>
              <a:t>Online Mode</a:t>
            </a:r>
          </a:p>
        </p:txBody>
      </p:sp>
      <p:sp>
        <p:nvSpPr>
          <p:cNvPr id="9" name="Rounded Rectangle 8"/>
          <p:cNvSpPr/>
          <p:nvPr/>
        </p:nvSpPr>
        <p:spPr>
          <a:xfrm>
            <a:off x="13578840" y="5486400"/>
            <a:ext cx="4160520" cy="173736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lstStyle/>
          <a:p>
            <a:pPr algn="l">
              <a:spcAft>
                <a:spcPts val="400"/>
              </a:spcAft>
            </a:pPr>
            <a:r>
              <a:rPr sz="1700" b="0" i="0">
                <a:solidFill>
                  <a:srgbClr val="404155"/>
                </a:solidFill>
                <a:latin typeface="Corben"/>
                <a:ea typeface="Corben"/>
                <a:cs typeface="Corben"/>
              </a:rPr>
              <a:t>Status</a:t>
            </a:r>
          </a:p>
          <a:p>
            <a:pPr algn="l">
              <a:spcAft>
                <a:spcPts val="0"/>
              </a:spcAft>
            </a:pPr>
            <a:r>
              <a:rPr sz="2200" b="1" i="0">
                <a:solidFill>
                  <a:srgbClr val="2E9E6B"/>
                </a:solidFill>
                <a:latin typeface="Corben"/>
                <a:ea typeface="Corben"/>
                <a:cs typeface="Corben"/>
              </a:rPr>
              <a:t>Planned</a:t>
            </a:r>
          </a:p>
        </p:txBody>
      </p:sp>
      <p:sp>
        <p:nvSpPr>
          <p:cNvPr id="10" name="TextBox 9"/>
          <p:cNvSpPr txBox="1"/>
          <p:nvPr/>
        </p:nvSpPr>
        <p:spPr>
          <a:xfrm>
            <a:off x="548640" y="7589520"/>
            <a:ext cx="914400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Plan</a:t>
            </a:r>
          </a:p>
        </p:txBody>
      </p:sp>
      <p:sp>
        <p:nvSpPr>
          <p:cNvPr id="11" name="Rounded Rectangle 10"/>
          <p:cNvSpPr/>
          <p:nvPr/>
        </p:nvSpPr>
        <p:spPr>
          <a:xfrm>
            <a:off x="548640" y="8229600"/>
            <a:ext cx="5212080" cy="132588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0"/>
              </a:spcAft>
            </a:pPr>
            <a:r>
              <a:rPr sz="1900" b="0" i="0">
                <a:solidFill>
                  <a:srgbClr val="1B2B3A"/>
                </a:solidFill>
                <a:latin typeface="Corben"/>
                <a:ea typeface="Corben"/>
                <a:cs typeface="Corben"/>
              </a:rPr>
              <a:t>Finalise paper; present at ICAESEM 2026</a:t>
            </a:r>
          </a:p>
        </p:txBody>
      </p:sp>
      <p:sp>
        <p:nvSpPr>
          <p:cNvPr id="12" name="Oval 11"/>
          <p:cNvSpPr/>
          <p:nvPr/>
        </p:nvSpPr>
        <p:spPr>
          <a:xfrm>
            <a:off x="777240" y="8577072"/>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1</a:t>
            </a:r>
          </a:p>
        </p:txBody>
      </p:sp>
      <p:sp>
        <p:nvSpPr>
          <p:cNvPr id="13" name="Right Arrow 12"/>
          <p:cNvSpPr/>
          <p:nvPr/>
        </p:nvSpPr>
        <p:spPr>
          <a:xfrm>
            <a:off x="5806440" y="8705088"/>
            <a:ext cx="411480" cy="365760"/>
          </a:xfrm>
          <a:prstGeom prst="rightArrow">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09359" y="8229600"/>
            <a:ext cx="5212080" cy="132588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0"/>
              </a:spcAft>
            </a:pPr>
            <a:r>
              <a:rPr sz="1900" b="0" i="0">
                <a:solidFill>
                  <a:srgbClr val="1B2B3A"/>
                </a:solidFill>
                <a:latin typeface="Corben"/>
                <a:ea typeface="Corben"/>
                <a:cs typeface="Corben"/>
              </a:rPr>
              <a:t>Register for International Hackathon 5.0 by 12 Nov</a:t>
            </a:r>
          </a:p>
        </p:txBody>
      </p:sp>
      <p:sp>
        <p:nvSpPr>
          <p:cNvPr id="15" name="Oval 14"/>
          <p:cNvSpPr/>
          <p:nvPr/>
        </p:nvSpPr>
        <p:spPr>
          <a:xfrm>
            <a:off x="6537959" y="8577072"/>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2</a:t>
            </a:r>
          </a:p>
        </p:txBody>
      </p:sp>
      <p:sp>
        <p:nvSpPr>
          <p:cNvPr id="16" name="Right Arrow 15"/>
          <p:cNvSpPr/>
          <p:nvPr/>
        </p:nvSpPr>
        <p:spPr>
          <a:xfrm>
            <a:off x="11567159" y="8705088"/>
            <a:ext cx="411480" cy="365760"/>
          </a:xfrm>
          <a:prstGeom prst="rightArrow">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2070080" y="8229600"/>
            <a:ext cx="5212080" cy="132588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0"/>
              </a:spcAft>
            </a:pPr>
            <a:r>
              <a:rPr sz="1900" b="0" i="0">
                <a:solidFill>
                  <a:srgbClr val="1B2B3A"/>
                </a:solidFill>
                <a:latin typeface="Corben"/>
                <a:ea typeface="Corben"/>
                <a:cs typeface="Corben"/>
              </a:rPr>
              <a:t>Hackathon Round 1 presentation on 14 Nov</a:t>
            </a:r>
          </a:p>
        </p:txBody>
      </p:sp>
      <p:sp>
        <p:nvSpPr>
          <p:cNvPr id="18" name="Oval 17"/>
          <p:cNvSpPr/>
          <p:nvPr/>
        </p:nvSpPr>
        <p:spPr>
          <a:xfrm>
            <a:off x="12298680" y="8577072"/>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Screenshots &amp; Interface Evidence (3/3)</a:t>
            </a:r>
          </a:p>
        </p:txBody>
      </p:sp>
      <p:pic>
        <p:nvPicPr>
          <p:cNvPr id="3" name="Picture 2" descr="Submit Event"/>
          <p:cNvPicPr>
            <a:picLocks noChangeAspect="1"/>
          </p:cNvPicPr>
          <p:nvPr/>
        </p:nvPicPr>
        <p:blipFill>
          <a:blip r:embed="rId3"/>
          <a:stretch>
            <a:fillRect/>
          </a:stretch>
        </p:blipFill>
        <p:spPr>
          <a:xfrm>
            <a:off x="457200" y="2560320"/>
            <a:ext cx="8503920" cy="4515905"/>
          </a:xfrm>
          <a:prstGeom prst="rect">
            <a:avLst/>
          </a:prstGeom>
          <a:ln w="25400">
            <a:solidFill>
              <a:srgbClr val="4967E9"/>
            </a:solidFill>
          </a:ln>
        </p:spPr>
      </p:pic>
      <p:sp>
        <p:nvSpPr>
          <p:cNvPr id="4" name="TextBox 3"/>
          <p:cNvSpPr txBox="1"/>
          <p:nvPr/>
        </p:nvSpPr>
        <p:spPr>
          <a:xfrm>
            <a:off x="457200" y="7213385"/>
            <a:ext cx="8503920" cy="457200"/>
          </a:xfrm>
          <a:prstGeom prst="rect">
            <a:avLst/>
          </a:prstGeom>
          <a:noFill/>
        </p:spPr>
        <p:txBody>
          <a:bodyPr wrap="square" lIns="0" tIns="0" rIns="0" bIns="0" anchor="t">
            <a:spAutoFit/>
          </a:bodyPr>
          <a:lstStyle/>
          <a:p>
            <a:pPr algn="ctr">
              <a:spcAft>
                <a:spcPts val="600"/>
              </a:spcAft>
            </a:pPr>
            <a:r>
              <a:rPr lang="en-US" sz="2400" b="1" i="0" dirty="0">
                <a:solidFill>
                  <a:srgbClr val="1B2B3A"/>
                </a:solidFill>
                <a:latin typeface="Corben"/>
                <a:ea typeface="Corben"/>
                <a:cs typeface="Corben"/>
              </a:rPr>
              <a:t>5. Submit Event</a:t>
            </a:r>
          </a:p>
        </p:txBody>
      </p:sp>
      <p:pic>
        <p:nvPicPr>
          <p:cNvPr id="5" name="Picture 4" descr="Profile"/>
          <p:cNvPicPr>
            <a:picLocks noChangeAspect="1"/>
          </p:cNvPicPr>
          <p:nvPr/>
        </p:nvPicPr>
        <p:blipFill>
          <a:blip r:embed="rId4"/>
          <a:stretch>
            <a:fillRect/>
          </a:stretch>
        </p:blipFill>
        <p:spPr>
          <a:xfrm>
            <a:off x="9326880" y="2560320"/>
            <a:ext cx="8503920" cy="4515905"/>
          </a:xfrm>
          <a:prstGeom prst="rect">
            <a:avLst/>
          </a:prstGeom>
          <a:ln w="25400">
            <a:solidFill>
              <a:srgbClr val="4967E9"/>
            </a:solidFill>
          </a:ln>
        </p:spPr>
      </p:pic>
      <p:sp>
        <p:nvSpPr>
          <p:cNvPr id="6" name="TextBox 5"/>
          <p:cNvSpPr txBox="1"/>
          <p:nvPr/>
        </p:nvSpPr>
        <p:spPr>
          <a:xfrm>
            <a:off x="9326880" y="7213385"/>
            <a:ext cx="8503920" cy="457200"/>
          </a:xfrm>
          <a:prstGeom prst="rect">
            <a:avLst/>
          </a:prstGeom>
          <a:noFill/>
        </p:spPr>
        <p:txBody>
          <a:bodyPr wrap="square" lIns="0" tIns="0" rIns="0" bIns="0" anchor="t">
            <a:spAutoFit/>
          </a:bodyPr>
          <a:lstStyle/>
          <a:p>
            <a:pPr algn="ctr">
              <a:spcAft>
                <a:spcPts val="600"/>
              </a:spcAft>
            </a:pPr>
            <a:r>
              <a:rPr lang="en-US" sz="2400" b="1" i="0" dirty="0">
                <a:solidFill>
                  <a:srgbClr val="1B2B3A"/>
                </a:solidFill>
                <a:latin typeface="Corben"/>
                <a:ea typeface="Corben"/>
                <a:cs typeface="Corben"/>
              </a:rPr>
              <a:t>6. Profile</a:t>
            </a:r>
          </a:p>
        </p:txBody>
      </p:sp>
      <p:sp>
        <p:nvSpPr>
          <p:cNvPr id="15" name="TextBox 14"/>
          <p:cNvSpPr txBox="1"/>
          <p:nvPr/>
        </p:nvSpPr>
        <p:spPr>
          <a:xfrm>
            <a:off x="548640" y="9555480"/>
            <a:ext cx="17190720" cy="411480"/>
          </a:xfrm>
          <a:prstGeom prst="rect">
            <a:avLst/>
          </a:prstGeom>
          <a:noFill/>
        </p:spPr>
        <p:txBody>
          <a:bodyPr wrap="square" lIns="0" tIns="0" rIns="0" bIns="0" anchor="t">
            <a:spAutoFit/>
          </a:bodyPr>
          <a:lstStyle/>
          <a:p>
            <a:pPr algn="ctr">
              <a:spcAft>
                <a:spcPts val="600"/>
              </a:spcAft>
            </a:pPr>
            <a:r>
              <a:rPr sz="1400" b="0" i="1">
                <a:solidFill>
                  <a:srgbClr val="404155"/>
                </a:solidFill>
                <a:latin typeface="Corben"/>
                <a:ea typeface="Corben"/>
                <a:cs typeface="Corben"/>
              </a:rPr>
              <a:t>Screenshots from the running system in demo / simulation mode.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Screenshots &amp; Interface Evidence (2/3)</a:t>
            </a:r>
          </a:p>
        </p:txBody>
      </p:sp>
      <p:pic>
        <p:nvPicPr>
          <p:cNvPr id="3" name="Picture 2" descr="Badges &amp; Progress"/>
          <p:cNvPicPr>
            <a:picLocks noChangeAspect="1"/>
          </p:cNvPicPr>
          <p:nvPr/>
        </p:nvPicPr>
        <p:blipFill>
          <a:blip r:embed="rId3"/>
          <a:stretch>
            <a:fillRect/>
          </a:stretch>
        </p:blipFill>
        <p:spPr>
          <a:xfrm>
            <a:off x="457200" y="2560320"/>
            <a:ext cx="8503920" cy="4515905"/>
          </a:xfrm>
          <a:prstGeom prst="rect">
            <a:avLst/>
          </a:prstGeom>
          <a:ln w="25400">
            <a:solidFill>
              <a:srgbClr val="4967E9"/>
            </a:solidFill>
          </a:ln>
        </p:spPr>
      </p:pic>
      <p:sp>
        <p:nvSpPr>
          <p:cNvPr id="4" name="TextBox 3"/>
          <p:cNvSpPr txBox="1"/>
          <p:nvPr/>
        </p:nvSpPr>
        <p:spPr>
          <a:xfrm>
            <a:off x="457200" y="7213385"/>
            <a:ext cx="8503920" cy="457200"/>
          </a:xfrm>
          <a:prstGeom prst="rect">
            <a:avLst/>
          </a:prstGeom>
          <a:noFill/>
        </p:spPr>
        <p:txBody>
          <a:bodyPr wrap="square" lIns="0" tIns="0" rIns="0" bIns="0" anchor="t">
            <a:spAutoFit/>
          </a:bodyPr>
          <a:lstStyle/>
          <a:p>
            <a:pPr algn="ctr">
              <a:spcAft>
                <a:spcPts val="600"/>
              </a:spcAft>
            </a:pPr>
            <a:r>
              <a:rPr lang="en-US" sz="2400" b="1" i="0" dirty="0">
                <a:solidFill>
                  <a:srgbClr val="1B2B3A"/>
                </a:solidFill>
                <a:latin typeface="Corben"/>
                <a:ea typeface="Corben"/>
                <a:cs typeface="Corben"/>
              </a:rPr>
              <a:t>3. Badges &amp; Progress</a:t>
            </a:r>
          </a:p>
        </p:txBody>
      </p:sp>
      <p:pic>
        <p:nvPicPr>
          <p:cNvPr id="5" name="Picture 4" descr="Alerts"/>
          <p:cNvPicPr>
            <a:picLocks noChangeAspect="1"/>
          </p:cNvPicPr>
          <p:nvPr/>
        </p:nvPicPr>
        <p:blipFill>
          <a:blip r:embed="rId4"/>
          <a:stretch>
            <a:fillRect/>
          </a:stretch>
        </p:blipFill>
        <p:spPr>
          <a:xfrm>
            <a:off x="9326880" y="2560320"/>
            <a:ext cx="8503920" cy="4515905"/>
          </a:xfrm>
          <a:prstGeom prst="rect">
            <a:avLst/>
          </a:prstGeom>
          <a:ln w="25400">
            <a:solidFill>
              <a:srgbClr val="4967E9"/>
            </a:solidFill>
          </a:ln>
        </p:spPr>
      </p:pic>
      <p:sp>
        <p:nvSpPr>
          <p:cNvPr id="6" name="TextBox 5"/>
          <p:cNvSpPr txBox="1"/>
          <p:nvPr/>
        </p:nvSpPr>
        <p:spPr>
          <a:xfrm>
            <a:off x="9326880" y="7213385"/>
            <a:ext cx="8503920" cy="457200"/>
          </a:xfrm>
          <a:prstGeom prst="rect">
            <a:avLst/>
          </a:prstGeom>
          <a:noFill/>
        </p:spPr>
        <p:txBody>
          <a:bodyPr wrap="square" lIns="0" tIns="0" rIns="0" bIns="0" anchor="t">
            <a:spAutoFit/>
          </a:bodyPr>
          <a:lstStyle/>
          <a:p>
            <a:pPr algn="ctr">
              <a:spcAft>
                <a:spcPts val="600"/>
              </a:spcAft>
            </a:pPr>
            <a:r>
              <a:rPr lang="en-US" sz="2400" b="1" i="0" dirty="0">
                <a:solidFill>
                  <a:srgbClr val="1B2B3A"/>
                </a:solidFill>
                <a:latin typeface="Corben"/>
                <a:ea typeface="Corben"/>
                <a:cs typeface="Corben"/>
              </a:rPr>
              <a:t>4. Alerts</a:t>
            </a:r>
          </a:p>
        </p:txBody>
      </p:sp>
      <p:sp>
        <p:nvSpPr>
          <p:cNvPr id="15" name="TextBox 14"/>
          <p:cNvSpPr txBox="1"/>
          <p:nvPr/>
        </p:nvSpPr>
        <p:spPr>
          <a:xfrm>
            <a:off x="548640" y="9555480"/>
            <a:ext cx="17190720" cy="411480"/>
          </a:xfrm>
          <a:prstGeom prst="rect">
            <a:avLst/>
          </a:prstGeom>
          <a:noFill/>
        </p:spPr>
        <p:txBody>
          <a:bodyPr wrap="square" lIns="0" tIns="0" rIns="0" bIns="0" anchor="t">
            <a:spAutoFit/>
          </a:bodyPr>
          <a:lstStyle/>
          <a:p>
            <a:pPr algn="ctr">
              <a:spcAft>
                <a:spcPts val="600"/>
              </a:spcAft>
            </a:pPr>
            <a:r>
              <a:rPr sz="1400" b="0" i="1">
                <a:solidFill>
                  <a:srgbClr val="404155"/>
                </a:solidFill>
                <a:latin typeface="Corben"/>
                <a:ea typeface="Corben"/>
                <a:cs typeface="Corben"/>
              </a:rPr>
              <a:t>Screenshots from the running system in demo / simulation mode.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8E7"/>
        </a:solidFill>
        <a:effectLst/>
      </p:bgPr>
    </p:bg>
    <p:spTree>
      <p:nvGrpSpPr>
        <p:cNvPr id="1" name=""/>
        <p:cNvGrpSpPr/>
        <p:nvPr/>
      </p:nvGrpSpPr>
      <p:grpSpPr>
        <a:xfrm>
          <a:off x="0" y="0"/>
          <a:ext cx="0" cy="0"/>
          <a:chOff x="0" y="0"/>
          <a:chExt cx="0" cy="0"/>
        </a:xfrm>
      </p:grpSpPr>
      <p:sp>
        <p:nvSpPr>
          <p:cNvPr id="2" name="TextBox 1"/>
          <p:cNvSpPr txBox="1"/>
          <p:nvPr/>
        </p:nvSpPr>
        <p:spPr>
          <a:xfrm>
            <a:off x="914400" y="201168"/>
            <a:ext cx="16459200" cy="914400"/>
          </a:xfrm>
          <a:prstGeom prst="rect">
            <a:avLst/>
          </a:prstGeom>
          <a:noFill/>
        </p:spPr>
        <p:txBody>
          <a:bodyPr wrap="square" lIns="0" tIns="0" rIns="0" bIns="0" anchor="ctr">
            <a:spAutoFit/>
          </a:bodyPr>
          <a:lstStyle/>
          <a:p>
            <a:pPr algn="ctr">
              <a:spcAft>
                <a:spcPts val="600"/>
              </a:spcAft>
            </a:pPr>
            <a:r>
              <a:rPr sz="4000" b="0" i="0" u="sng">
                <a:solidFill>
                  <a:srgbClr val="4967E9"/>
                </a:solidFill>
                <a:latin typeface="Corben"/>
                <a:ea typeface="Corben"/>
                <a:cs typeface="Corben"/>
              </a:rPr>
              <a:t>Problem Statement &amp; Core Objectives</a:t>
            </a:r>
          </a:p>
        </p:txBody>
      </p:sp>
      <p:sp>
        <p:nvSpPr>
          <p:cNvPr id="5" name="TextBox 4"/>
          <p:cNvSpPr txBox="1"/>
          <p:nvPr/>
        </p:nvSpPr>
        <p:spPr>
          <a:xfrm>
            <a:off x="548640" y="1280160"/>
            <a:ext cx="804672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Problem Statement</a:t>
            </a:r>
          </a:p>
        </p:txBody>
      </p:sp>
      <p:sp>
        <p:nvSpPr>
          <p:cNvPr id="6" name="TextBox 5"/>
          <p:cNvSpPr txBox="1"/>
          <p:nvPr/>
        </p:nvSpPr>
        <p:spPr>
          <a:xfrm>
            <a:off x="548640" y="1874519"/>
            <a:ext cx="8046720" cy="3323987"/>
          </a:xfrm>
          <a:prstGeom prst="rect">
            <a:avLst/>
          </a:prstGeom>
          <a:noFill/>
        </p:spPr>
        <p:txBody>
          <a:bodyPr wrap="square" lIns="0" tIns="0" rIns="0" bIns="0" anchor="t">
            <a:spAutoFit/>
          </a:bodyPr>
          <a:lstStyle/>
          <a:p>
            <a:pPr marL="320040" indent="-320040" algn="l">
              <a:spcAft>
                <a:spcPts val="3000"/>
              </a:spcAft>
              <a:buChar char="•"/>
            </a:pPr>
            <a:r>
              <a:rPr sz="3200" b="1" i="0" dirty="0">
                <a:solidFill>
                  <a:srgbClr val="1B2B3A"/>
                </a:solidFill>
                <a:latin typeface="Corben"/>
                <a:ea typeface="Corben"/>
                <a:cs typeface="Corben"/>
              </a:rPr>
              <a:t>Reactive detection: </a:t>
            </a:r>
            <a:r>
              <a:rPr sz="3200" b="0" i="0" dirty="0">
                <a:solidFill>
                  <a:srgbClr val="1B2B3A"/>
                </a:solidFill>
                <a:latin typeface="Corben"/>
                <a:ea typeface="Corben"/>
                <a:cs typeface="Corben"/>
              </a:rPr>
              <a:t>students are flagged only at term-end condonation reviews.</a:t>
            </a:r>
          </a:p>
          <a:p>
            <a:pPr marL="320040" indent="-320040" algn="l">
              <a:spcAft>
                <a:spcPts val="3000"/>
              </a:spcAft>
              <a:buChar char="•"/>
            </a:pPr>
            <a:r>
              <a:rPr sz="3200" b="1" i="0" dirty="0">
                <a:solidFill>
                  <a:srgbClr val="1B2B3A"/>
                </a:solidFill>
                <a:latin typeface="Corben"/>
                <a:ea typeface="Corben"/>
                <a:cs typeface="Corben"/>
              </a:rPr>
              <a:t>Data silos: </a:t>
            </a:r>
            <a:r>
              <a:rPr sz="3200" b="0" i="0" dirty="0">
                <a:solidFill>
                  <a:srgbClr val="1B2B3A"/>
                </a:solidFill>
                <a:latin typeface="Corben"/>
                <a:ea typeface="Corben"/>
                <a:cs typeface="Corben"/>
              </a:rPr>
              <a:t>attendance, marks and conduct are never combined.</a:t>
            </a:r>
          </a:p>
          <a:p>
            <a:pPr marL="320040" indent="-320040" algn="l">
              <a:spcAft>
                <a:spcPts val="3000"/>
              </a:spcAft>
              <a:buChar char="•"/>
            </a:pPr>
            <a:r>
              <a:rPr sz="3200" b="1" i="0" dirty="0">
                <a:solidFill>
                  <a:srgbClr val="1B2B3A"/>
                </a:solidFill>
                <a:latin typeface="Corben"/>
                <a:ea typeface="Corben"/>
                <a:cs typeface="Corben"/>
              </a:rPr>
              <a:t>Black-box reports: </a:t>
            </a:r>
            <a:r>
              <a:rPr sz="3200" b="0" i="0" dirty="0">
                <a:solidFill>
                  <a:srgbClr val="1B2B3A"/>
                </a:solidFill>
                <a:latin typeface="Corben"/>
                <a:ea typeface="Corben"/>
                <a:cs typeface="Corben"/>
              </a:rPr>
              <a:t>ERPs show raw percentages, not the reason for a slide.</a:t>
            </a:r>
          </a:p>
          <a:p>
            <a:pPr marL="320040" indent="-320040" algn="l">
              <a:spcAft>
                <a:spcPts val="3000"/>
              </a:spcAft>
              <a:buChar char="•"/>
            </a:pPr>
            <a:r>
              <a:rPr sz="3200" b="1" i="0" dirty="0">
                <a:solidFill>
                  <a:srgbClr val="1B2B3A"/>
                </a:solidFill>
                <a:latin typeface="Corben"/>
                <a:ea typeface="Corben"/>
                <a:cs typeface="Corben"/>
              </a:rPr>
              <a:t>No prognosis: </a:t>
            </a:r>
            <a:r>
              <a:rPr sz="3200" b="0" i="0" dirty="0">
                <a:solidFill>
                  <a:srgbClr val="1B2B3A"/>
                </a:solidFill>
                <a:latin typeface="Corben"/>
                <a:ea typeface="Corben"/>
                <a:cs typeface="Corben"/>
              </a:rPr>
              <a:t>advisors cannot simulate recovery interventions</a:t>
            </a:r>
            <a:r>
              <a:rPr sz="3200" b="0" i="0" dirty="0">
                <a:solidFill>
                  <a:srgbClr val="1B2B3A"/>
                </a:solidFill>
                <a:latin typeface="Corben"/>
                <a:ea typeface="Corben"/>
                <a:cs typeface="Corben"/>
              </a:rPr>
              <a:t>.</a:t>
            </a:r>
          </a:p>
        </p:txBody>
      </p:sp>
      <p:sp>
        <p:nvSpPr>
          <p:cNvPr id="7" name="TextBox 6"/>
          <p:cNvSpPr txBox="1"/>
          <p:nvPr/>
        </p:nvSpPr>
        <p:spPr>
          <a:xfrm>
            <a:off x="9326880" y="1280160"/>
            <a:ext cx="8412480" cy="502920"/>
          </a:xfrm>
          <a:prstGeom prst="rect">
            <a:avLst/>
          </a:prstGeom>
          <a:noFill/>
        </p:spPr>
        <p:txBody>
          <a:bodyPr wrap="square" lIns="0" tIns="0" rIns="0" bIns="0" anchor="t">
            <a:spAutoFit/>
          </a:bodyPr>
          <a:lstStyle/>
          <a:p>
            <a:pPr algn="l">
              <a:spcAft>
                <a:spcPts val="600"/>
              </a:spcAft>
            </a:pPr>
            <a:r>
              <a:rPr sz="2600" b="0" i="0" u="sng">
                <a:solidFill>
                  <a:srgbClr val="FF6D4D"/>
                </a:solidFill>
                <a:latin typeface="Corben"/>
                <a:ea typeface="Corben"/>
                <a:cs typeface="Corben"/>
              </a:rPr>
              <a:t>Core Objectives</a:t>
            </a:r>
          </a:p>
        </p:txBody>
      </p:sp>
      <p:sp>
        <p:nvSpPr>
          <p:cNvPr id="8" name="Rounded Rectangle 7"/>
          <p:cNvSpPr/>
          <p:nvPr/>
        </p:nvSpPr>
        <p:spPr>
          <a:xfrm>
            <a:off x="9326880" y="1874519"/>
            <a:ext cx="8412480" cy="137160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300"/>
              </a:spcAft>
            </a:pPr>
            <a:r>
              <a:rPr sz="2100" b="1" i="0">
                <a:solidFill>
                  <a:srgbClr val="1B2B3A"/>
                </a:solidFill>
                <a:latin typeface="Corben"/>
                <a:ea typeface="Corben"/>
                <a:cs typeface="Corben"/>
              </a:rPr>
              <a:t>Living Digital Twin</a:t>
            </a:r>
          </a:p>
          <a:p>
            <a:pPr algn="l">
              <a:spcAft>
                <a:spcPts val="0"/>
              </a:spcAft>
            </a:pPr>
            <a:r>
              <a:rPr sz="1800" b="0" i="0">
                <a:solidFill>
                  <a:srgbClr val="404155"/>
                </a:solidFill>
                <a:latin typeface="Corben"/>
                <a:ea typeface="Corben"/>
                <a:cs typeface="Corben"/>
              </a:rPr>
              <a:t>Real-time virtual profile updated on every classroom event</a:t>
            </a:r>
          </a:p>
        </p:txBody>
      </p:sp>
      <p:sp>
        <p:nvSpPr>
          <p:cNvPr id="9" name="Oval 8"/>
          <p:cNvSpPr/>
          <p:nvPr/>
        </p:nvSpPr>
        <p:spPr>
          <a:xfrm>
            <a:off x="9509760" y="2240279"/>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1</a:t>
            </a:r>
          </a:p>
        </p:txBody>
      </p:sp>
      <p:sp>
        <p:nvSpPr>
          <p:cNvPr id="10" name="Rounded Rectangle 9"/>
          <p:cNvSpPr/>
          <p:nvPr/>
        </p:nvSpPr>
        <p:spPr>
          <a:xfrm>
            <a:off x="9326880" y="3429000"/>
            <a:ext cx="8412480" cy="137160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300"/>
              </a:spcAft>
            </a:pPr>
            <a:r>
              <a:rPr sz="2100" b="1" i="0">
                <a:solidFill>
                  <a:srgbClr val="1B2B3A"/>
                </a:solidFill>
                <a:latin typeface="Corben"/>
                <a:ea typeface="Corben"/>
                <a:cs typeface="Corben"/>
              </a:rPr>
              <a:t>Explainable Risk Score</a:t>
            </a:r>
          </a:p>
          <a:p>
            <a:pPr algn="l">
              <a:spcAft>
                <a:spcPts val="0"/>
              </a:spcAft>
            </a:pPr>
            <a:r>
              <a:rPr sz="1800" b="0" i="0">
                <a:solidFill>
                  <a:srgbClr val="404155"/>
                </a:solidFill>
                <a:latin typeface="Corben"/>
                <a:ea typeface="Corben"/>
                <a:cs typeface="Corben"/>
              </a:rPr>
              <a:t>0–100 health score: 50% Academic, 30% Attendance, 20% Conduct</a:t>
            </a:r>
          </a:p>
        </p:txBody>
      </p:sp>
      <p:sp>
        <p:nvSpPr>
          <p:cNvPr id="11" name="Oval 10"/>
          <p:cNvSpPr/>
          <p:nvPr/>
        </p:nvSpPr>
        <p:spPr>
          <a:xfrm>
            <a:off x="9509760" y="3794760"/>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2</a:t>
            </a:r>
          </a:p>
        </p:txBody>
      </p:sp>
      <p:sp>
        <p:nvSpPr>
          <p:cNvPr id="12" name="Rounded Rectangle 11"/>
          <p:cNvSpPr/>
          <p:nvPr/>
        </p:nvSpPr>
        <p:spPr>
          <a:xfrm>
            <a:off x="9326880" y="4983479"/>
            <a:ext cx="8412480" cy="137160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300"/>
              </a:spcAft>
            </a:pPr>
            <a:r>
              <a:rPr sz="2100" b="1" i="0">
                <a:solidFill>
                  <a:srgbClr val="1B2B3A"/>
                </a:solidFill>
                <a:latin typeface="Corben"/>
                <a:ea typeface="Corben"/>
                <a:cs typeface="Corben"/>
              </a:rPr>
              <a:t>Anti-Flicker State Machine</a:t>
            </a:r>
          </a:p>
          <a:p>
            <a:pPr algn="l">
              <a:spcAft>
                <a:spcPts val="0"/>
              </a:spcAft>
            </a:pPr>
            <a:r>
              <a:rPr sz="1800" b="0" i="0">
                <a:solidFill>
                  <a:srgbClr val="404155"/>
                </a:solidFill>
                <a:latin typeface="Corben"/>
                <a:ea typeface="Corben"/>
                <a:cs typeface="Corben"/>
              </a:rPr>
              <a:t>Stable / Warning / Critical with hysteresis safeguards</a:t>
            </a:r>
          </a:p>
        </p:txBody>
      </p:sp>
      <p:sp>
        <p:nvSpPr>
          <p:cNvPr id="13" name="Oval 12"/>
          <p:cNvSpPr/>
          <p:nvPr/>
        </p:nvSpPr>
        <p:spPr>
          <a:xfrm>
            <a:off x="9509760" y="5349240"/>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3</a:t>
            </a:r>
          </a:p>
        </p:txBody>
      </p:sp>
      <p:sp>
        <p:nvSpPr>
          <p:cNvPr id="14" name="Rounded Rectangle 13"/>
          <p:cNvSpPr/>
          <p:nvPr/>
        </p:nvSpPr>
        <p:spPr>
          <a:xfrm>
            <a:off x="9326880" y="6537959"/>
            <a:ext cx="8412480" cy="137160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300"/>
              </a:spcAft>
            </a:pPr>
            <a:r>
              <a:rPr sz="2100" b="1" i="0">
                <a:solidFill>
                  <a:srgbClr val="1B2B3A"/>
                </a:solidFill>
                <a:latin typeface="Corben"/>
                <a:ea typeface="Corben"/>
                <a:cs typeface="Corben"/>
              </a:rPr>
              <a:t>What-If Simulation Sandbox</a:t>
            </a:r>
          </a:p>
          <a:p>
            <a:pPr algn="l">
              <a:spcAft>
                <a:spcPts val="0"/>
              </a:spcAft>
            </a:pPr>
            <a:r>
              <a:rPr sz="1800" b="0" i="0">
                <a:solidFill>
                  <a:srgbClr val="404155"/>
                </a:solidFill>
                <a:latin typeface="Corben"/>
                <a:ea typeface="Corben"/>
                <a:cs typeface="Corben"/>
              </a:rPr>
              <a:t>Mentors test interventions in memory, no record changes</a:t>
            </a:r>
          </a:p>
        </p:txBody>
      </p:sp>
      <p:sp>
        <p:nvSpPr>
          <p:cNvPr id="15" name="Oval 14"/>
          <p:cNvSpPr/>
          <p:nvPr/>
        </p:nvSpPr>
        <p:spPr>
          <a:xfrm>
            <a:off x="9509760" y="6903720"/>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4</a:t>
            </a:r>
          </a:p>
        </p:txBody>
      </p:sp>
      <p:sp>
        <p:nvSpPr>
          <p:cNvPr id="16" name="Rounded Rectangle 15"/>
          <p:cNvSpPr/>
          <p:nvPr/>
        </p:nvSpPr>
        <p:spPr>
          <a:xfrm>
            <a:off x="9326880" y="8092440"/>
            <a:ext cx="8412480" cy="1371600"/>
          </a:xfrm>
          <a:prstGeom prst="roundRect">
            <a:avLst>
              <a:gd name="adj" fmla="val 8000"/>
            </a:avLst>
          </a:prstGeom>
          <a:solidFill>
            <a:srgbClr val="FFFFFF"/>
          </a:solidFill>
          <a:ln w="31750">
            <a:solidFill>
              <a:srgbClr val="4967E9"/>
            </a:solidFill>
          </a:ln>
          <a:effectLst/>
        </p:spPr>
        <p:style>
          <a:lnRef idx="1">
            <a:schemeClr val="accent1"/>
          </a:lnRef>
          <a:fillRef idx="3">
            <a:schemeClr val="accent1"/>
          </a:fillRef>
          <a:effectRef idx="2">
            <a:schemeClr val="accent1"/>
          </a:effectRef>
          <a:fontRef idx="minor">
            <a:schemeClr val="lt1"/>
          </a:fontRef>
        </p:style>
        <p:txBody>
          <a:bodyPr wrap="square" lIns="1005840" tIns="91440" rIns="1005840" bIns="91440" rtlCol="0" anchor="ctr"/>
          <a:lstStyle/>
          <a:p>
            <a:pPr algn="l">
              <a:spcAft>
                <a:spcPts val="300"/>
              </a:spcAft>
            </a:pPr>
            <a:r>
              <a:rPr sz="2100" b="1" i="0">
                <a:solidFill>
                  <a:srgbClr val="1B2B3A"/>
                </a:solidFill>
                <a:latin typeface="Corben"/>
                <a:ea typeface="Corben"/>
                <a:cs typeface="Corben"/>
              </a:rPr>
              <a:t>Multi-Stakeholder Portals</a:t>
            </a:r>
          </a:p>
          <a:p>
            <a:pPr algn="l">
              <a:spcAft>
                <a:spcPts val="0"/>
              </a:spcAft>
            </a:pPr>
            <a:r>
              <a:rPr sz="1800" b="0" i="0">
                <a:solidFill>
                  <a:srgbClr val="404155"/>
                </a:solidFill>
                <a:latin typeface="Corben"/>
                <a:ea typeface="Corben"/>
                <a:cs typeface="Corben"/>
              </a:rPr>
              <a:t>Role-based desktop and mobile views for all four user roles</a:t>
            </a:r>
          </a:p>
        </p:txBody>
      </p:sp>
      <p:sp>
        <p:nvSpPr>
          <p:cNvPr id="17" name="Oval 16"/>
          <p:cNvSpPr/>
          <p:nvPr/>
        </p:nvSpPr>
        <p:spPr>
          <a:xfrm>
            <a:off x="9509760" y="8458200"/>
            <a:ext cx="640080" cy="640080"/>
          </a:xfrm>
          <a:prstGeom prst="ellipse">
            <a:avLst/>
          </a:prstGeom>
          <a:solidFill>
            <a:srgbClr val="FF6D4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Aft>
                <a:spcPts val="600"/>
              </a:spcAft>
            </a:pPr>
            <a:r>
              <a:rPr sz="2200" b="1" i="0">
                <a:solidFill>
                  <a:srgbClr val="FFFFFF"/>
                </a:solidFill>
                <a:latin typeface="Corben"/>
                <a:ea typeface="Corben"/>
                <a:cs typeface="Corben"/>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2519</Words>
  <Application>Microsoft Office PowerPoint</Application>
  <PresentationFormat>Custom</PresentationFormat>
  <Paragraphs>278</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Consolas</vt:lpstr>
      <vt:lpstr>Calibri</vt:lpstr>
      <vt:lpstr>Corben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 1st Review</dc:title>
  <dc:creator>JINS</dc:creator>
  <cp:lastModifiedBy>john jins</cp:lastModifiedBy>
  <cp:revision>6</cp:revision>
  <dcterms:created xsi:type="dcterms:W3CDTF">2006-08-16T00:00:00Z</dcterms:created>
  <dcterms:modified xsi:type="dcterms:W3CDTF">2026-10-22T16:44:21Z</dcterms:modified>
  <dc:identifier>DAHRP_PVRP4</dc:identifier>
</cp:coreProperties>
</file>